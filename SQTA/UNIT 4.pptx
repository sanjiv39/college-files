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1" r:id="rId16"/>
    <p:sldId id="270" r:id="rId17"/>
    <p:sldId id="272" r:id="rId18"/>
    <p:sldId id="275" r:id="rId19"/>
    <p:sldId id="274" r:id="rId20"/>
    <p:sldId id="276" r:id="rId21"/>
    <p:sldId id="277" r:id="rId22"/>
    <p:sldId id="273" r:id="rId23"/>
    <p:sldId id="278" r:id="rId24"/>
    <p:sldId id="303" r:id="rId25"/>
    <p:sldId id="304" r:id="rId26"/>
    <p:sldId id="305" r:id="rId27"/>
    <p:sldId id="306"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3" r:id="rId55"/>
    <p:sldId id="292" r:id="rId56"/>
    <p:sldId id="294" r:id="rId57"/>
    <p:sldId id="295" r:id="rId58"/>
    <p:sldId id="296" r:id="rId59"/>
    <p:sldId id="297" r:id="rId60"/>
    <p:sldId id="298" r:id="rId61"/>
    <p:sldId id="299" r:id="rId62"/>
    <p:sldId id="301" r:id="rId63"/>
    <p:sldId id="302" r:id="rId64"/>
    <p:sldId id="300" r:id="rId65"/>
    <p:sldId id="320" r:id="rId66"/>
    <p:sldId id="321" r:id="rId67"/>
    <p:sldId id="322" r:id="rId68"/>
    <p:sldId id="323" r:id="rId69"/>
    <p:sldId id="324"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6FC5844-B33E-4B70-A00B-A7E69BD57A41}"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1598514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FC5844-B33E-4B70-A00B-A7E69BD57A41}"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3249387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6FC5844-B33E-4B70-A00B-A7E69BD57A41}"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773095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6FC5844-B33E-4B70-A00B-A7E69BD57A41}" type="datetimeFigureOut">
              <a:rPr lang="en-IN" smtClean="0"/>
              <a:t>04-02-2025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1982633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6FC5844-B33E-4B70-A00B-A7E69BD57A41}" type="datetimeFigureOut">
              <a:rPr lang="en-IN" smtClean="0"/>
              <a:t>04-02-2025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361496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6FC5844-B33E-4B70-A00B-A7E69BD57A41}" type="datetimeFigureOut">
              <a:rPr lang="en-IN" smtClean="0"/>
              <a:t>04-02-2025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3238065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FC5844-B33E-4B70-A00B-A7E69BD57A41}" type="datetimeFigureOut">
              <a:rPr lang="en-IN" smtClean="0"/>
              <a:t>04-02-2025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1662970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6FC5844-B33E-4B70-A00B-A7E69BD57A41}" type="datetimeFigureOut">
              <a:rPr lang="en-IN" smtClean="0"/>
              <a:t>04-02-2025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4113674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6FC5844-B33E-4B70-A00B-A7E69BD57A41}" type="datetimeFigureOut">
              <a:rPr lang="en-IN" smtClean="0"/>
              <a:t>04-02-2025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1082205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FC5844-B33E-4B70-A00B-A7E69BD57A41}"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1755105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FC5844-B33E-4B70-A00B-A7E69BD57A41}" type="datetimeFigureOut">
              <a:rPr lang="en-IN" smtClean="0"/>
              <a:t>04-02-2025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E43C6AB-DE3B-4319-B275-7F8CD57897B2}" type="slidenum">
              <a:rPr lang="en-IN" smtClean="0"/>
              <a:t>‹#›</a:t>
            </a:fld>
            <a:endParaRPr lang="en-IN"/>
          </a:p>
        </p:txBody>
      </p:sp>
    </p:spTree>
    <p:extLst>
      <p:ext uri="{BB962C8B-B14F-4D97-AF65-F5344CB8AC3E}">
        <p14:creationId xmlns:p14="http://schemas.microsoft.com/office/powerpoint/2010/main" val="1231013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C5844-B33E-4B70-A00B-A7E69BD57A41}" type="datetimeFigureOut">
              <a:rPr lang="en-IN" smtClean="0"/>
              <a:t>04-02-2025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43C6AB-DE3B-4319-B275-7F8CD57897B2}" type="slidenum">
              <a:rPr lang="en-IN" smtClean="0"/>
              <a:t>‹#›</a:t>
            </a:fld>
            <a:endParaRPr lang="en-IN"/>
          </a:p>
        </p:txBody>
      </p:sp>
    </p:spTree>
    <p:extLst>
      <p:ext uri="{BB962C8B-B14F-4D97-AF65-F5344CB8AC3E}">
        <p14:creationId xmlns:p14="http://schemas.microsoft.com/office/powerpoint/2010/main" val="1749304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testsigma.com/guides/integration-testin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t>STQA IV</a:t>
            </a:r>
            <a:endParaRPr lang="en-IN" b="1" dirty="0"/>
          </a:p>
        </p:txBody>
      </p:sp>
      <p:sp>
        <p:nvSpPr>
          <p:cNvPr id="3" name="Subtitle 2"/>
          <p:cNvSpPr>
            <a:spLocks noGrp="1"/>
          </p:cNvSpPr>
          <p:nvPr>
            <p:ph type="subTitle" idx="1"/>
          </p:nvPr>
        </p:nvSpPr>
        <p:spPr/>
        <p:txBody>
          <a:bodyPr/>
          <a:lstStyle/>
          <a:p>
            <a:r>
              <a:rPr lang="en-IN" dirty="0" smtClean="0"/>
              <a:t>TY BSC IT Mumbai University</a:t>
            </a:r>
            <a:endParaRPr lang="en-IN" dirty="0"/>
          </a:p>
        </p:txBody>
      </p:sp>
    </p:spTree>
    <p:extLst>
      <p:ext uri="{BB962C8B-B14F-4D97-AF65-F5344CB8AC3E}">
        <p14:creationId xmlns:p14="http://schemas.microsoft.com/office/powerpoint/2010/main" val="32391092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Verification and Validation (V&amp;V)</a:t>
            </a:r>
            <a:endParaRPr lang="en-US" b="1" dirty="0"/>
          </a:p>
        </p:txBody>
      </p:sp>
      <p:sp>
        <p:nvSpPr>
          <p:cNvPr id="3" name="Content Placeholder 2"/>
          <p:cNvSpPr>
            <a:spLocks noGrp="1"/>
          </p:cNvSpPr>
          <p:nvPr>
            <p:ph idx="1"/>
          </p:nvPr>
        </p:nvSpPr>
        <p:spPr/>
        <p:txBody>
          <a:bodyPr/>
          <a:lstStyle/>
          <a:p>
            <a:r>
              <a:rPr lang="en-US" b="1" dirty="0" smtClean="0"/>
              <a:t>Software Verification and Validation (V&amp;V)</a:t>
            </a:r>
            <a:r>
              <a:rPr lang="en-US" dirty="0" smtClean="0"/>
              <a:t> is a process that ensures software meets its </a:t>
            </a:r>
            <a:r>
              <a:rPr lang="en-US" b="1" dirty="0" smtClean="0"/>
              <a:t>specified requirements</a:t>
            </a:r>
            <a:r>
              <a:rPr lang="en-US" dirty="0" smtClean="0"/>
              <a:t> and functions </a:t>
            </a:r>
            <a:r>
              <a:rPr lang="en-US" b="1" dirty="0" smtClean="0"/>
              <a:t>correctly and reliably</a:t>
            </a:r>
            <a:r>
              <a:rPr lang="en-US" dirty="0" smtClean="0"/>
              <a:t>. It is a critical part of </a:t>
            </a:r>
            <a:r>
              <a:rPr lang="en-US" b="1" dirty="0" smtClean="0"/>
              <a:t>software quality assurance (SQA)</a:t>
            </a:r>
            <a:r>
              <a:rPr lang="en-US" dirty="0" smtClean="0"/>
              <a:t> and helps in </a:t>
            </a:r>
            <a:r>
              <a:rPr lang="en-US" b="1" dirty="0" smtClean="0"/>
              <a:t>detecting defects early</a:t>
            </a:r>
            <a:r>
              <a:rPr lang="en-US" dirty="0" smtClean="0"/>
              <a:t> in the development lifecycle.</a:t>
            </a:r>
            <a:endParaRPr lang="en-IN" dirty="0"/>
          </a:p>
        </p:txBody>
      </p:sp>
    </p:spTree>
    <p:extLst>
      <p:ext uri="{BB962C8B-B14F-4D97-AF65-F5344CB8AC3E}">
        <p14:creationId xmlns:p14="http://schemas.microsoft.com/office/powerpoint/2010/main" val="15732053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1. Software Verification</a:t>
            </a:r>
            <a:endParaRPr lang="en-IN" b="1" dirty="0"/>
          </a:p>
        </p:txBody>
      </p:sp>
      <p:pic>
        <p:nvPicPr>
          <p:cNvPr id="3" name="Picture 2"/>
          <p:cNvPicPr>
            <a:picLocks noChangeAspect="1"/>
          </p:cNvPicPr>
          <p:nvPr/>
        </p:nvPicPr>
        <p:blipFill>
          <a:blip r:embed="rId2"/>
          <a:stretch>
            <a:fillRect/>
          </a:stretch>
        </p:blipFill>
        <p:spPr>
          <a:xfrm>
            <a:off x="980493" y="1569143"/>
            <a:ext cx="8502872" cy="5019552"/>
          </a:xfrm>
          <a:prstGeom prst="rect">
            <a:avLst/>
          </a:prstGeom>
        </p:spPr>
      </p:pic>
    </p:spTree>
    <p:extLst>
      <p:ext uri="{BB962C8B-B14F-4D97-AF65-F5344CB8AC3E}">
        <p14:creationId xmlns:p14="http://schemas.microsoft.com/office/powerpoint/2010/main" val="22035496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2. Software Validation</a:t>
            </a:r>
            <a:endParaRPr lang="en-IN" b="1" dirty="0"/>
          </a:p>
        </p:txBody>
      </p:sp>
      <p:pic>
        <p:nvPicPr>
          <p:cNvPr id="3" name="Picture 2"/>
          <p:cNvPicPr>
            <a:picLocks noChangeAspect="1"/>
          </p:cNvPicPr>
          <p:nvPr/>
        </p:nvPicPr>
        <p:blipFill>
          <a:blip r:embed="rId2"/>
          <a:stretch>
            <a:fillRect/>
          </a:stretch>
        </p:blipFill>
        <p:spPr>
          <a:xfrm>
            <a:off x="946159" y="1512780"/>
            <a:ext cx="8548209" cy="5029422"/>
          </a:xfrm>
          <a:prstGeom prst="rect">
            <a:avLst/>
          </a:prstGeom>
        </p:spPr>
      </p:pic>
    </p:spTree>
    <p:extLst>
      <p:ext uri="{BB962C8B-B14F-4D97-AF65-F5344CB8AC3E}">
        <p14:creationId xmlns:p14="http://schemas.microsoft.com/office/powerpoint/2010/main" val="25658517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49246" y="392238"/>
            <a:ext cx="10944791" cy="3670715"/>
          </a:xfrm>
          <a:prstGeom prst="rect">
            <a:avLst/>
          </a:prstGeom>
        </p:spPr>
      </p:pic>
    </p:spTree>
    <p:extLst>
      <p:ext uri="{BB962C8B-B14F-4D97-AF65-F5344CB8AC3E}">
        <p14:creationId xmlns:p14="http://schemas.microsoft.com/office/powerpoint/2010/main" val="28232792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Verification Workbench</a:t>
            </a:r>
            <a:endParaRPr lang="en-IN" dirty="0"/>
          </a:p>
        </p:txBody>
      </p:sp>
      <p:sp>
        <p:nvSpPr>
          <p:cNvPr id="3" name="Content Placeholder 2"/>
          <p:cNvSpPr>
            <a:spLocks noGrp="1"/>
          </p:cNvSpPr>
          <p:nvPr>
            <p:ph idx="1"/>
          </p:nvPr>
        </p:nvSpPr>
        <p:spPr/>
        <p:txBody>
          <a:bodyPr/>
          <a:lstStyle/>
          <a:p>
            <a:r>
              <a:rPr lang="en-US" dirty="0" smtClean="0"/>
              <a:t>The </a:t>
            </a:r>
            <a:r>
              <a:rPr lang="en-US" b="1" dirty="0" smtClean="0"/>
              <a:t>Verification Workbench</a:t>
            </a:r>
            <a:r>
              <a:rPr lang="en-US" dirty="0" smtClean="0"/>
              <a:t> is a structured framework used to systematically verify that a software product meets its </a:t>
            </a:r>
            <a:r>
              <a:rPr lang="en-US" b="1" dirty="0" smtClean="0"/>
              <a:t>requirements and design specifications</a:t>
            </a:r>
            <a:r>
              <a:rPr lang="en-US" dirty="0" smtClean="0"/>
              <a:t>. It consists of a set of </a:t>
            </a:r>
            <a:r>
              <a:rPr lang="en-US" b="1" dirty="0" smtClean="0"/>
              <a:t>tools, techniques, and processes</a:t>
            </a:r>
            <a:r>
              <a:rPr lang="en-US" dirty="0" smtClean="0"/>
              <a:t> to ensure that software is being developed </a:t>
            </a:r>
            <a:r>
              <a:rPr lang="en-US" b="1" dirty="0" smtClean="0"/>
              <a:t>correctly</a:t>
            </a:r>
            <a:r>
              <a:rPr lang="en-US" dirty="0" smtClean="0"/>
              <a:t> before it moves to the validation phase.</a:t>
            </a:r>
            <a:endParaRPr lang="en-IN" dirty="0"/>
          </a:p>
        </p:txBody>
      </p:sp>
    </p:spTree>
    <p:extLst>
      <p:ext uri="{BB962C8B-B14F-4D97-AF65-F5344CB8AC3E}">
        <p14:creationId xmlns:p14="http://schemas.microsoft.com/office/powerpoint/2010/main" val="6136381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Components of the Verification Workbench</a:t>
            </a:r>
            <a:endParaRPr lang="en-US" b="1" dirty="0"/>
          </a:p>
        </p:txBody>
      </p:sp>
      <p:pic>
        <p:nvPicPr>
          <p:cNvPr id="3" name="Picture 2"/>
          <p:cNvPicPr>
            <a:picLocks noChangeAspect="1"/>
          </p:cNvPicPr>
          <p:nvPr/>
        </p:nvPicPr>
        <p:blipFill>
          <a:blip r:embed="rId2"/>
          <a:stretch>
            <a:fillRect/>
          </a:stretch>
        </p:blipFill>
        <p:spPr>
          <a:xfrm>
            <a:off x="838200" y="1848836"/>
            <a:ext cx="10181232" cy="3816673"/>
          </a:xfrm>
          <a:prstGeom prst="rect">
            <a:avLst/>
          </a:prstGeom>
        </p:spPr>
      </p:pic>
    </p:spTree>
    <p:extLst>
      <p:ext uri="{BB962C8B-B14F-4D97-AF65-F5344CB8AC3E}">
        <p14:creationId xmlns:p14="http://schemas.microsoft.com/office/powerpoint/2010/main" val="26253149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Process of Using the Verification Workbench</a:t>
            </a:r>
            <a:endParaRPr lang="en-US" b="1" dirty="0"/>
          </a:p>
        </p:txBody>
      </p:sp>
      <p:pic>
        <p:nvPicPr>
          <p:cNvPr id="3" name="Picture 2"/>
          <p:cNvPicPr>
            <a:picLocks noChangeAspect="1"/>
          </p:cNvPicPr>
          <p:nvPr/>
        </p:nvPicPr>
        <p:blipFill>
          <a:blip r:embed="rId2"/>
          <a:stretch>
            <a:fillRect/>
          </a:stretch>
        </p:blipFill>
        <p:spPr>
          <a:xfrm>
            <a:off x="944859" y="1690687"/>
            <a:ext cx="9822075" cy="3060421"/>
          </a:xfrm>
          <a:prstGeom prst="rect">
            <a:avLst/>
          </a:prstGeom>
        </p:spPr>
      </p:pic>
    </p:spTree>
    <p:extLst>
      <p:ext uri="{BB962C8B-B14F-4D97-AF65-F5344CB8AC3E}">
        <p14:creationId xmlns:p14="http://schemas.microsoft.com/office/powerpoint/2010/main" val="6648648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Methods of Verification in Software Testing</a:t>
            </a:r>
            <a:endParaRPr lang="en-US" b="1" dirty="0"/>
          </a:p>
        </p:txBody>
      </p:sp>
      <p:sp>
        <p:nvSpPr>
          <p:cNvPr id="3" name="Content Placeholder 2"/>
          <p:cNvSpPr>
            <a:spLocks noGrp="1"/>
          </p:cNvSpPr>
          <p:nvPr>
            <p:ph idx="1"/>
          </p:nvPr>
        </p:nvSpPr>
        <p:spPr/>
        <p:txBody>
          <a:bodyPr/>
          <a:lstStyle/>
          <a:p>
            <a:r>
              <a:rPr lang="en-US" b="1" dirty="0" smtClean="0"/>
              <a:t>Software Verification</a:t>
            </a:r>
            <a:r>
              <a:rPr lang="en-US" dirty="0" smtClean="0"/>
              <a:t> ensures that the software is built </a:t>
            </a:r>
            <a:r>
              <a:rPr lang="en-US" b="1" dirty="0" smtClean="0"/>
              <a:t>correctly</a:t>
            </a:r>
            <a:r>
              <a:rPr lang="en-US" dirty="0" smtClean="0"/>
              <a:t> by checking whether it meets </a:t>
            </a:r>
            <a:r>
              <a:rPr lang="en-US" b="1" dirty="0" smtClean="0"/>
              <a:t>design specifications, coding standards, and requirements</a:t>
            </a:r>
            <a:r>
              <a:rPr lang="en-US" dirty="0" smtClean="0"/>
              <a:t> before execution. It is a </a:t>
            </a:r>
            <a:r>
              <a:rPr lang="en-US" b="1" dirty="0" smtClean="0"/>
              <a:t>static process</a:t>
            </a:r>
            <a:r>
              <a:rPr lang="en-US" dirty="0" smtClean="0"/>
              <a:t> that does not involve running the software.</a:t>
            </a:r>
            <a:endParaRPr lang="en-IN" dirty="0"/>
          </a:p>
        </p:txBody>
      </p:sp>
    </p:spTree>
    <p:extLst>
      <p:ext uri="{BB962C8B-B14F-4D97-AF65-F5344CB8AC3E}">
        <p14:creationId xmlns:p14="http://schemas.microsoft.com/office/powerpoint/2010/main" val="1742469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69859" y="159761"/>
            <a:ext cx="10228898" cy="5213517"/>
          </a:xfrm>
          <a:prstGeom prst="rect">
            <a:avLst/>
          </a:prstGeom>
        </p:spPr>
      </p:pic>
    </p:spTree>
    <p:extLst>
      <p:ext uri="{BB962C8B-B14F-4D97-AF65-F5344CB8AC3E}">
        <p14:creationId xmlns:p14="http://schemas.microsoft.com/office/powerpoint/2010/main" val="873548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097" y="93674"/>
            <a:ext cx="7334493" cy="4559860"/>
          </a:xfrm>
          <a:prstGeom prst="rect">
            <a:avLst/>
          </a:prstGeom>
        </p:spPr>
      </p:pic>
      <p:pic>
        <p:nvPicPr>
          <p:cNvPr id="3" name="Picture 2"/>
          <p:cNvPicPr>
            <a:picLocks noChangeAspect="1"/>
          </p:cNvPicPr>
          <p:nvPr/>
        </p:nvPicPr>
        <p:blipFill>
          <a:blip r:embed="rId3"/>
          <a:stretch>
            <a:fillRect/>
          </a:stretch>
        </p:blipFill>
        <p:spPr>
          <a:xfrm>
            <a:off x="304724" y="4854553"/>
            <a:ext cx="9791175" cy="1442551"/>
          </a:xfrm>
          <a:prstGeom prst="rect">
            <a:avLst/>
          </a:prstGeom>
        </p:spPr>
      </p:pic>
    </p:spTree>
    <p:extLst>
      <p:ext uri="{BB962C8B-B14F-4D97-AF65-F5344CB8AC3E}">
        <p14:creationId xmlns:p14="http://schemas.microsoft.com/office/powerpoint/2010/main" val="42582943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Reviews Based on Stage/Phase</a:t>
            </a:r>
            <a:endParaRPr lang="en-US" b="1" dirty="0"/>
          </a:p>
        </p:txBody>
      </p:sp>
      <p:pic>
        <p:nvPicPr>
          <p:cNvPr id="3" name="Picture 2"/>
          <p:cNvPicPr>
            <a:picLocks noChangeAspect="1"/>
          </p:cNvPicPr>
          <p:nvPr/>
        </p:nvPicPr>
        <p:blipFill>
          <a:blip r:embed="rId2"/>
          <a:stretch>
            <a:fillRect/>
          </a:stretch>
        </p:blipFill>
        <p:spPr>
          <a:xfrm>
            <a:off x="1003038" y="1592159"/>
            <a:ext cx="7603634" cy="5034326"/>
          </a:xfrm>
          <a:prstGeom prst="rect">
            <a:avLst/>
          </a:prstGeom>
        </p:spPr>
      </p:pic>
    </p:spTree>
    <p:extLst>
      <p:ext uri="{BB962C8B-B14F-4D97-AF65-F5344CB8AC3E}">
        <p14:creationId xmlns:p14="http://schemas.microsoft.com/office/powerpoint/2010/main" val="20859671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6743" y="407522"/>
            <a:ext cx="6620059" cy="3410334"/>
          </a:xfrm>
          <a:prstGeom prst="rect">
            <a:avLst/>
          </a:prstGeom>
        </p:spPr>
      </p:pic>
    </p:spTree>
    <p:extLst>
      <p:ext uri="{BB962C8B-B14F-4D97-AF65-F5344CB8AC3E}">
        <p14:creationId xmlns:p14="http://schemas.microsoft.com/office/powerpoint/2010/main" val="32758649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Entities Involved in Software Verification</a:t>
            </a:r>
            <a:endParaRPr lang="en-US" b="1" dirty="0"/>
          </a:p>
        </p:txBody>
      </p:sp>
      <p:pic>
        <p:nvPicPr>
          <p:cNvPr id="3" name="Picture 2"/>
          <p:cNvPicPr>
            <a:picLocks noChangeAspect="1"/>
          </p:cNvPicPr>
          <p:nvPr/>
        </p:nvPicPr>
        <p:blipFill>
          <a:blip r:embed="rId2"/>
          <a:stretch>
            <a:fillRect/>
          </a:stretch>
        </p:blipFill>
        <p:spPr>
          <a:xfrm>
            <a:off x="998755" y="1599513"/>
            <a:ext cx="8286908" cy="5074663"/>
          </a:xfrm>
          <a:prstGeom prst="rect">
            <a:avLst/>
          </a:prstGeom>
        </p:spPr>
      </p:pic>
    </p:spTree>
    <p:extLst>
      <p:ext uri="{BB962C8B-B14F-4D97-AF65-F5344CB8AC3E}">
        <p14:creationId xmlns:p14="http://schemas.microsoft.com/office/powerpoint/2010/main" val="41891008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Reviews in the Software Testing Lifecycle</a:t>
            </a:r>
            <a:endParaRPr lang="en-IN" dirty="0"/>
          </a:p>
        </p:txBody>
      </p:sp>
      <p:sp>
        <p:nvSpPr>
          <p:cNvPr id="3" name="Content Placeholder 2"/>
          <p:cNvSpPr>
            <a:spLocks noGrp="1"/>
          </p:cNvSpPr>
          <p:nvPr>
            <p:ph idx="1"/>
          </p:nvPr>
        </p:nvSpPr>
        <p:spPr/>
        <p:txBody>
          <a:bodyPr/>
          <a:lstStyle/>
          <a:p>
            <a:r>
              <a:rPr lang="en-US" b="1" dirty="0" smtClean="0"/>
              <a:t>Reviews</a:t>
            </a:r>
            <a:r>
              <a:rPr lang="en-US" dirty="0" smtClean="0"/>
              <a:t> in the software testing lifecycle are </a:t>
            </a:r>
            <a:r>
              <a:rPr lang="en-US" b="1" dirty="0" smtClean="0"/>
              <a:t>systematic evaluations</a:t>
            </a:r>
            <a:r>
              <a:rPr lang="en-US" dirty="0" smtClean="0"/>
              <a:t> of software artifacts to identify defects </a:t>
            </a:r>
            <a:r>
              <a:rPr lang="en-US" b="1" dirty="0" smtClean="0"/>
              <a:t>early</a:t>
            </a:r>
            <a:r>
              <a:rPr lang="en-US" dirty="0" smtClean="0"/>
              <a:t> in the development process. These reviews help improve </a:t>
            </a:r>
            <a:r>
              <a:rPr lang="en-US" b="1" dirty="0" smtClean="0"/>
              <a:t>software quality, reduce rework, and ensure compliance with requirements</a:t>
            </a:r>
            <a:r>
              <a:rPr lang="en-US" dirty="0" smtClean="0"/>
              <a:t> before formal testing begins</a:t>
            </a:r>
            <a:endParaRPr lang="en-IN" dirty="0"/>
          </a:p>
        </p:txBody>
      </p:sp>
    </p:spTree>
    <p:extLst>
      <p:ext uri="{BB962C8B-B14F-4D97-AF65-F5344CB8AC3E}">
        <p14:creationId xmlns:p14="http://schemas.microsoft.com/office/powerpoint/2010/main" val="23570326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Reviews in the Testing Lifecycle</a:t>
            </a:r>
            <a:endParaRPr lang="en-US" b="1" dirty="0"/>
          </a:p>
        </p:txBody>
      </p:sp>
      <p:pic>
        <p:nvPicPr>
          <p:cNvPr id="4" name="Picture 3"/>
          <p:cNvPicPr>
            <a:picLocks noChangeAspect="1"/>
          </p:cNvPicPr>
          <p:nvPr/>
        </p:nvPicPr>
        <p:blipFill>
          <a:blip r:embed="rId2"/>
          <a:stretch>
            <a:fillRect/>
          </a:stretch>
        </p:blipFill>
        <p:spPr>
          <a:xfrm>
            <a:off x="961048" y="1618350"/>
            <a:ext cx="9644714" cy="4961559"/>
          </a:xfrm>
          <a:prstGeom prst="rect">
            <a:avLst/>
          </a:prstGeom>
        </p:spPr>
      </p:pic>
    </p:spTree>
    <p:extLst>
      <p:ext uri="{BB962C8B-B14F-4D97-AF65-F5344CB8AC3E}">
        <p14:creationId xmlns:p14="http://schemas.microsoft.com/office/powerpoint/2010/main" val="10058180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87371" y="632250"/>
            <a:ext cx="10641291" cy="2139229"/>
          </a:xfrm>
          <a:prstGeom prst="rect">
            <a:avLst/>
          </a:prstGeom>
        </p:spPr>
      </p:pic>
    </p:spTree>
    <p:extLst>
      <p:ext uri="{BB962C8B-B14F-4D97-AF65-F5344CB8AC3E}">
        <p14:creationId xmlns:p14="http://schemas.microsoft.com/office/powerpoint/2010/main" val="23871321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Coverage in Verification</a:t>
            </a:r>
            <a:endParaRPr lang="en-IN" b="1" dirty="0"/>
          </a:p>
        </p:txBody>
      </p:sp>
      <p:sp>
        <p:nvSpPr>
          <p:cNvPr id="3" name="Content Placeholder 2"/>
          <p:cNvSpPr>
            <a:spLocks noGrp="1"/>
          </p:cNvSpPr>
          <p:nvPr>
            <p:ph idx="1"/>
          </p:nvPr>
        </p:nvSpPr>
        <p:spPr/>
        <p:txBody>
          <a:bodyPr/>
          <a:lstStyle/>
          <a:p>
            <a:r>
              <a:rPr lang="en-US" b="1" dirty="0" smtClean="0"/>
              <a:t>Coverage in Verification</a:t>
            </a:r>
            <a:r>
              <a:rPr lang="en-US" dirty="0" smtClean="0"/>
              <a:t> refers to the extent to which software </a:t>
            </a:r>
            <a:r>
              <a:rPr lang="en-US" b="1" dirty="0" smtClean="0"/>
              <a:t>artifacts (requirements, design, and code)</a:t>
            </a:r>
            <a:r>
              <a:rPr lang="en-US" dirty="0" smtClean="0"/>
              <a:t> are checked against specified standards to ensure correctness before execution. </a:t>
            </a:r>
          </a:p>
          <a:p>
            <a:r>
              <a:rPr lang="en-US" dirty="0" smtClean="0"/>
              <a:t>It ensures that </a:t>
            </a:r>
            <a:r>
              <a:rPr lang="en-US" b="1" dirty="0" smtClean="0"/>
              <a:t>all aspects of the software are verified</a:t>
            </a:r>
            <a:r>
              <a:rPr lang="en-US" dirty="0" smtClean="0"/>
              <a:t> to detect defects early in the development lifecycle.</a:t>
            </a:r>
            <a:endParaRPr lang="en-IN" dirty="0"/>
          </a:p>
        </p:txBody>
      </p:sp>
    </p:spTree>
    <p:extLst>
      <p:ext uri="{BB962C8B-B14F-4D97-AF65-F5344CB8AC3E}">
        <p14:creationId xmlns:p14="http://schemas.microsoft.com/office/powerpoint/2010/main" val="9308053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27316" y="273788"/>
            <a:ext cx="10465711" cy="5259746"/>
          </a:xfrm>
          <a:prstGeom prst="rect">
            <a:avLst/>
          </a:prstGeom>
        </p:spPr>
      </p:pic>
    </p:spTree>
    <p:extLst>
      <p:ext uri="{BB962C8B-B14F-4D97-AF65-F5344CB8AC3E}">
        <p14:creationId xmlns:p14="http://schemas.microsoft.com/office/powerpoint/2010/main" val="12325603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883"/>
            <a:ext cx="10515600" cy="662396"/>
          </a:xfrm>
        </p:spPr>
        <p:txBody>
          <a:bodyPr>
            <a:normAutofit fontScale="90000"/>
          </a:bodyPr>
          <a:lstStyle/>
          <a:p>
            <a:r>
              <a:rPr lang="en-US" b="1" dirty="0" smtClean="0"/>
              <a:t>Concerns of Verification in Software Testing</a:t>
            </a:r>
            <a:endParaRPr lang="en-US" b="1" dirty="0"/>
          </a:p>
        </p:txBody>
      </p:sp>
      <p:sp>
        <p:nvSpPr>
          <p:cNvPr id="3" name="Content Placeholder 2"/>
          <p:cNvSpPr>
            <a:spLocks noGrp="1"/>
          </p:cNvSpPr>
          <p:nvPr>
            <p:ph idx="1"/>
          </p:nvPr>
        </p:nvSpPr>
        <p:spPr>
          <a:xfrm>
            <a:off x="838200" y="904973"/>
            <a:ext cx="10515600" cy="5271990"/>
          </a:xfrm>
        </p:spPr>
        <p:txBody>
          <a:bodyPr/>
          <a:lstStyle/>
          <a:p>
            <a:r>
              <a:rPr lang="en-US" dirty="0" smtClean="0"/>
              <a:t>Software </a:t>
            </a:r>
            <a:r>
              <a:rPr lang="en-US" b="1" dirty="0" smtClean="0"/>
              <a:t>Verification</a:t>
            </a:r>
            <a:r>
              <a:rPr lang="en-US" dirty="0" smtClean="0"/>
              <a:t> ensures that the software product is developed </a:t>
            </a:r>
            <a:r>
              <a:rPr lang="en-US" b="1" dirty="0" smtClean="0"/>
              <a:t>correctly</a:t>
            </a:r>
            <a:r>
              <a:rPr lang="en-US" dirty="0" smtClean="0"/>
              <a:t> as per the specifications. However, several concerns can impact the effectiveness of verification.</a:t>
            </a:r>
            <a:endParaRPr lang="en-IN" dirty="0"/>
          </a:p>
        </p:txBody>
      </p:sp>
      <p:pic>
        <p:nvPicPr>
          <p:cNvPr id="4" name="Picture 3"/>
          <p:cNvPicPr>
            <a:picLocks noChangeAspect="1"/>
          </p:cNvPicPr>
          <p:nvPr/>
        </p:nvPicPr>
        <p:blipFill>
          <a:blip r:embed="rId2"/>
          <a:stretch>
            <a:fillRect/>
          </a:stretch>
        </p:blipFill>
        <p:spPr>
          <a:xfrm>
            <a:off x="1162383" y="2107064"/>
            <a:ext cx="7901233" cy="4463418"/>
          </a:xfrm>
          <a:prstGeom prst="rect">
            <a:avLst/>
          </a:prstGeom>
        </p:spPr>
      </p:pic>
    </p:spTree>
    <p:extLst>
      <p:ext uri="{BB962C8B-B14F-4D97-AF65-F5344CB8AC3E}">
        <p14:creationId xmlns:p14="http://schemas.microsoft.com/office/powerpoint/2010/main" val="39497354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Software Validation</a:t>
            </a:r>
            <a:endParaRPr lang="en-IN" dirty="0"/>
          </a:p>
        </p:txBody>
      </p:sp>
      <p:sp>
        <p:nvSpPr>
          <p:cNvPr id="3" name="Content Placeholder 2"/>
          <p:cNvSpPr>
            <a:spLocks noGrp="1"/>
          </p:cNvSpPr>
          <p:nvPr>
            <p:ph idx="1"/>
          </p:nvPr>
        </p:nvSpPr>
        <p:spPr/>
        <p:txBody>
          <a:bodyPr/>
          <a:lstStyle/>
          <a:p>
            <a:r>
              <a:rPr lang="en-US" b="1" dirty="0" smtClean="0"/>
              <a:t>Software Validation</a:t>
            </a:r>
            <a:r>
              <a:rPr lang="en-US" dirty="0" smtClean="0"/>
              <a:t> is the process of ensuring that the final software product meets the </a:t>
            </a:r>
            <a:r>
              <a:rPr lang="en-US" b="1" dirty="0" smtClean="0"/>
              <a:t>intended requirements</a:t>
            </a:r>
            <a:r>
              <a:rPr lang="en-US" dirty="0" smtClean="0"/>
              <a:t> and functions as expected in a real-world environment. It answers the question:</a:t>
            </a:r>
          </a:p>
          <a:p>
            <a:r>
              <a:rPr lang="en-US" dirty="0" smtClean="0"/>
              <a:t>✅ </a:t>
            </a:r>
            <a:r>
              <a:rPr lang="en-US" b="1" dirty="0" smtClean="0"/>
              <a:t>"Are we building the right product?"</a:t>
            </a:r>
            <a:endParaRPr lang="en-US" dirty="0" smtClean="0"/>
          </a:p>
          <a:p>
            <a:r>
              <a:rPr lang="en-US" dirty="0" smtClean="0"/>
              <a:t>Unlike </a:t>
            </a:r>
            <a:r>
              <a:rPr lang="en-US" b="1" dirty="0" smtClean="0"/>
              <a:t>verification</a:t>
            </a:r>
            <a:r>
              <a:rPr lang="en-US" dirty="0" smtClean="0"/>
              <a:t>, which checks if the product is being built </a:t>
            </a:r>
            <a:r>
              <a:rPr lang="en-US" b="1" dirty="0" smtClean="0"/>
              <a:t>correctly</a:t>
            </a:r>
            <a:r>
              <a:rPr lang="en-US" dirty="0" smtClean="0"/>
              <a:t>, validation ensures that the </a:t>
            </a:r>
            <a:r>
              <a:rPr lang="en-US" b="1" dirty="0" smtClean="0"/>
              <a:t>end product meets user needs</a:t>
            </a:r>
            <a:r>
              <a:rPr lang="en-US" dirty="0" smtClean="0"/>
              <a:t> and performs its intended function</a:t>
            </a:r>
            <a:endParaRPr lang="en-US" dirty="0"/>
          </a:p>
        </p:txBody>
      </p:sp>
    </p:spTree>
    <p:extLst>
      <p:ext uri="{BB962C8B-B14F-4D97-AF65-F5344CB8AC3E}">
        <p14:creationId xmlns:p14="http://schemas.microsoft.com/office/powerpoint/2010/main" val="11285288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85015" y="1151452"/>
            <a:ext cx="10781674" cy="4037583"/>
          </a:xfrm>
          <a:prstGeom prst="rect">
            <a:avLst/>
          </a:prstGeom>
        </p:spPr>
      </p:pic>
    </p:spTree>
    <p:extLst>
      <p:ext uri="{BB962C8B-B14F-4D97-AF65-F5344CB8AC3E}">
        <p14:creationId xmlns:p14="http://schemas.microsoft.com/office/powerpoint/2010/main" val="4049405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29915" y="1152930"/>
            <a:ext cx="10424484" cy="3400215"/>
          </a:xfrm>
          <a:prstGeom prst="rect">
            <a:avLst/>
          </a:prstGeom>
        </p:spPr>
      </p:pic>
    </p:spTree>
    <p:extLst>
      <p:ext uri="{BB962C8B-B14F-4D97-AF65-F5344CB8AC3E}">
        <p14:creationId xmlns:p14="http://schemas.microsoft.com/office/powerpoint/2010/main" val="11745527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Validation Workbench</a:t>
            </a:r>
            <a:endParaRPr lang="en-IN" b="1" dirty="0"/>
          </a:p>
        </p:txBody>
      </p:sp>
      <p:sp>
        <p:nvSpPr>
          <p:cNvPr id="3" name="Content Placeholder 2"/>
          <p:cNvSpPr>
            <a:spLocks noGrp="1"/>
          </p:cNvSpPr>
          <p:nvPr>
            <p:ph idx="1"/>
          </p:nvPr>
        </p:nvSpPr>
        <p:spPr/>
        <p:txBody>
          <a:bodyPr/>
          <a:lstStyle/>
          <a:p>
            <a:r>
              <a:rPr lang="en-US" dirty="0" smtClean="0"/>
              <a:t>In software testing, the term "Validation Workbench" refers to specialized tools or frameworks designed to facilitate the validation process, ensuring that software products meet their intended requirements and function as expected. </a:t>
            </a:r>
          </a:p>
          <a:p>
            <a:r>
              <a:rPr lang="en-US" dirty="0" smtClean="0"/>
              <a:t>These tools assist testers in structuring, executing, and monitoring validation activities across various testing phases.</a:t>
            </a:r>
            <a:endParaRPr lang="en-IN" dirty="0"/>
          </a:p>
        </p:txBody>
      </p:sp>
    </p:spTree>
    <p:extLst>
      <p:ext uri="{BB962C8B-B14F-4D97-AF65-F5344CB8AC3E}">
        <p14:creationId xmlns:p14="http://schemas.microsoft.com/office/powerpoint/2010/main" val="682737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Examples of Validation Workbenches:</a:t>
            </a:r>
            <a:endParaRPr lang="en-US" dirty="0"/>
          </a:p>
        </p:txBody>
      </p:sp>
      <p:sp>
        <p:nvSpPr>
          <p:cNvPr id="3" name="Content Placeholder 2"/>
          <p:cNvSpPr>
            <a:spLocks noGrp="1"/>
          </p:cNvSpPr>
          <p:nvPr>
            <p:ph idx="1"/>
          </p:nvPr>
        </p:nvSpPr>
        <p:spPr>
          <a:xfrm>
            <a:off x="838200" y="1825625"/>
            <a:ext cx="10515600" cy="4895686"/>
          </a:xfrm>
        </p:spPr>
        <p:txBody>
          <a:bodyPr>
            <a:normAutofit/>
          </a:bodyPr>
          <a:lstStyle/>
          <a:p>
            <a:r>
              <a:rPr lang="en-US" b="1" dirty="0" smtClean="0"/>
              <a:t>Security Weaver's Validation Workbench</a:t>
            </a:r>
            <a:r>
              <a:rPr lang="en-US" dirty="0" smtClean="0"/>
              <a:t>: This tool streamlines the testing of SAP roles and authorizations by automating the creation of test environments. It generates test user accounts and assigns necessary roles, enhancing communication between administrators and testers. This automation reduces the time and complexity associated with authorization testing.</a:t>
            </a:r>
          </a:p>
          <a:p>
            <a:r>
              <a:rPr lang="en-US" b="1" dirty="0" err="1" smtClean="0"/>
              <a:t>Appvance's</a:t>
            </a:r>
            <a:r>
              <a:rPr lang="en-US" b="1" dirty="0" smtClean="0"/>
              <a:t> Validation Workbench</a:t>
            </a:r>
            <a:r>
              <a:rPr lang="en-US" dirty="0" smtClean="0"/>
              <a:t>: As a submodule within the </a:t>
            </a:r>
            <a:r>
              <a:rPr lang="en-US" dirty="0" err="1" smtClean="0"/>
              <a:t>Appvance</a:t>
            </a:r>
            <a:r>
              <a:rPr lang="en-US" dirty="0" smtClean="0"/>
              <a:t> platform, this tool enables the creation and modification of structured and personalized validations. It allows for automatic verification of test conditions, contributing to efficient test design and execution.</a:t>
            </a:r>
            <a:endParaRPr lang="en-IN" dirty="0"/>
          </a:p>
        </p:txBody>
      </p:sp>
    </p:spTree>
    <p:extLst>
      <p:ext uri="{BB962C8B-B14F-4D97-AF65-F5344CB8AC3E}">
        <p14:creationId xmlns:p14="http://schemas.microsoft.com/office/powerpoint/2010/main" val="3312666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Levels of Validation</a:t>
            </a:r>
            <a:endParaRPr lang="en-IN" b="1" dirty="0"/>
          </a:p>
        </p:txBody>
      </p:sp>
      <p:sp>
        <p:nvSpPr>
          <p:cNvPr id="6" name="Rectangle 3"/>
          <p:cNvSpPr>
            <a:spLocks noGrp="1" noChangeArrowheads="1"/>
          </p:cNvSpPr>
          <p:nvPr>
            <p:ph idx="1"/>
          </p:nvPr>
        </p:nvSpPr>
        <p:spPr bwMode="auto">
          <a:xfrm>
            <a:off x="838200" y="2293134"/>
            <a:ext cx="103115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Unit Testing</a:t>
            </a:r>
            <a:r>
              <a:rPr kumimoji="0" lang="en-US" altLang="en-US" sz="1800" b="0" i="0" u="none" strike="noStrike" cap="none" normalizeH="0" baseline="0" dirty="0" smtClean="0">
                <a:ln>
                  <a:noFill/>
                </a:ln>
                <a:solidFill>
                  <a:schemeClr val="tx1"/>
                </a:solidFill>
                <a:effectLst/>
                <a:latin typeface="Arial" panose="020B0604020202020204" pitchFamily="34" charset="0"/>
              </a:rPr>
              <a:t>: This level involves testing individual components or modules of the software to ensure they function correctly in isolation. It verifies that each unit performs as designed.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Integration Testing</a:t>
            </a:r>
            <a:r>
              <a:rPr kumimoji="0" lang="en-US" altLang="en-US" sz="1800" b="0" i="0" u="none" strike="noStrike" cap="none" normalizeH="0" baseline="0" dirty="0" smtClean="0">
                <a:ln>
                  <a:noFill/>
                </a:ln>
                <a:solidFill>
                  <a:schemeClr val="tx1"/>
                </a:solidFill>
                <a:effectLst/>
                <a:latin typeface="Arial" panose="020B0604020202020204" pitchFamily="34" charset="0"/>
              </a:rPr>
              <a:t>: At this stage, multiple units are combined and tested as a group to identify issues in their interactions. The goal is to detect interface defects between modules.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System Testing</a:t>
            </a:r>
            <a:r>
              <a:rPr kumimoji="0" lang="en-US" altLang="en-US" sz="1800" b="0" i="0" u="none" strike="noStrike" cap="none" normalizeH="0" baseline="0" dirty="0" smtClean="0">
                <a:ln>
                  <a:noFill/>
                </a:ln>
                <a:solidFill>
                  <a:schemeClr val="tx1"/>
                </a:solidFill>
                <a:effectLst/>
                <a:latin typeface="Arial" panose="020B0604020202020204" pitchFamily="34" charset="0"/>
              </a:rPr>
              <a:t>: This comprehensive testing evaluates the complete and integrated software product. It assesses the system's compliance with specified requirements.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Acceptance Testing</a:t>
            </a:r>
            <a:r>
              <a:rPr kumimoji="0" lang="en-US" altLang="en-US" sz="1800" b="0" i="0" u="none" strike="noStrike" cap="none" normalizeH="0" baseline="0" dirty="0" smtClean="0">
                <a:ln>
                  <a:noFill/>
                </a:ln>
                <a:solidFill>
                  <a:schemeClr val="tx1"/>
                </a:solidFill>
                <a:effectLst/>
                <a:latin typeface="Arial" panose="020B0604020202020204" pitchFamily="34" charset="0"/>
              </a:rPr>
              <a:t>: Conducted to determine whether the system meets the acceptance criteria and is ready for deployment. This testing is often performed by end-users or clients to validate the software's functionality in real-world scenarios. </a:t>
            </a:r>
          </a:p>
        </p:txBody>
      </p:sp>
    </p:spTree>
    <p:extLst>
      <p:ext uri="{BB962C8B-B14F-4D97-AF65-F5344CB8AC3E}">
        <p14:creationId xmlns:p14="http://schemas.microsoft.com/office/powerpoint/2010/main" val="1372703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10515600" cy="4754284"/>
          </a:xfrm>
        </p:spPr>
        <p:txBody>
          <a:bodyPr>
            <a:normAutofit fontScale="92500" lnSpcReduction="20000"/>
          </a:bodyPr>
          <a:lstStyle/>
          <a:p>
            <a:r>
              <a:rPr lang="en-US" dirty="0" smtClean="0"/>
              <a:t>Additionally, the validation process can be broken down into specific stages to ensure thorough evaluation:</a:t>
            </a:r>
          </a:p>
          <a:p>
            <a:r>
              <a:rPr lang="en-US" b="1" dirty="0" smtClean="0"/>
              <a:t>Design Qualification (DQ)</a:t>
            </a:r>
            <a:r>
              <a:rPr lang="en-US" dirty="0" smtClean="0"/>
              <a:t>: Involves creating a list of end-user business requirements and designing a validation testing plan to address them before launching the product. </a:t>
            </a:r>
          </a:p>
          <a:p>
            <a:r>
              <a:rPr lang="en-US" b="1" dirty="0" smtClean="0"/>
              <a:t>Installation Qualification (IQ)</a:t>
            </a:r>
            <a:r>
              <a:rPr lang="en-US" dirty="0" smtClean="0"/>
              <a:t>: Ensures that the software is installed correctly and that the test environment matches the intended production environment. </a:t>
            </a:r>
          </a:p>
          <a:p>
            <a:r>
              <a:rPr lang="en-US" b="1" dirty="0" smtClean="0"/>
              <a:t>Operational Qualification (OQ)</a:t>
            </a:r>
            <a:r>
              <a:rPr lang="en-US" dirty="0" smtClean="0"/>
              <a:t>: Involves testing the product with various operations to ensure it meets specified user requirements. This includes unit testing, integration testing, and system testing. </a:t>
            </a:r>
          </a:p>
          <a:p>
            <a:r>
              <a:rPr lang="en-US" b="1" dirty="0" smtClean="0"/>
              <a:t>Performance Qualification (PQ)</a:t>
            </a:r>
            <a:r>
              <a:rPr lang="en-US" dirty="0" smtClean="0"/>
              <a:t>: Verifies that the product performs according to business needs in real-world conditions. This stage often includes alpha and beta testing.</a:t>
            </a:r>
            <a:endParaRPr lang="en-US" dirty="0"/>
          </a:p>
        </p:txBody>
      </p:sp>
    </p:spTree>
    <p:extLst>
      <p:ext uri="{BB962C8B-B14F-4D97-AF65-F5344CB8AC3E}">
        <p14:creationId xmlns:p14="http://schemas.microsoft.com/office/powerpoint/2010/main" val="1032215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t>
            </a:r>
            <a:r>
              <a:rPr lang="en-IN" b="1" dirty="0" smtClean="0"/>
              <a:t>overage in validation</a:t>
            </a:r>
            <a:endParaRPr lang="en-IN" b="1" dirty="0"/>
          </a:p>
        </p:txBody>
      </p:sp>
      <p:sp>
        <p:nvSpPr>
          <p:cNvPr id="3" name="Content Placeholder 2"/>
          <p:cNvSpPr>
            <a:spLocks noGrp="1"/>
          </p:cNvSpPr>
          <p:nvPr>
            <p:ph idx="1"/>
          </p:nvPr>
        </p:nvSpPr>
        <p:spPr/>
        <p:txBody>
          <a:bodyPr/>
          <a:lstStyle/>
          <a:p>
            <a:r>
              <a:rPr lang="en-US" dirty="0" smtClean="0"/>
              <a:t>In software testing, </a:t>
            </a:r>
            <a:r>
              <a:rPr lang="en-US" b="1" dirty="0" smtClean="0"/>
              <a:t>test coverage</a:t>
            </a:r>
            <a:r>
              <a:rPr lang="en-US" dirty="0" smtClean="0"/>
              <a:t> is a critical metric that measures the extent to which the application's code, functionalities, or features are exercised by the test cases. </a:t>
            </a:r>
          </a:p>
          <a:p>
            <a:r>
              <a:rPr lang="en-US" dirty="0" smtClean="0"/>
              <a:t>It provides insight into which parts of the application have been tested and identifies areas that may require additional attention. </a:t>
            </a:r>
            <a:endParaRPr lang="en-IN" dirty="0"/>
          </a:p>
        </p:txBody>
      </p:sp>
    </p:spTree>
    <p:extLst>
      <p:ext uri="{BB962C8B-B14F-4D97-AF65-F5344CB8AC3E}">
        <p14:creationId xmlns:p14="http://schemas.microsoft.com/office/powerpoint/2010/main" val="3982460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Types of Test Coverage:</a:t>
            </a:r>
            <a:endParaRPr lang="en-IN" dirty="0"/>
          </a:p>
        </p:txBody>
      </p:sp>
      <p:sp>
        <p:nvSpPr>
          <p:cNvPr id="4" name="Rectangle 1"/>
          <p:cNvSpPr>
            <a:spLocks noGrp="1" noChangeArrowheads="1"/>
          </p:cNvSpPr>
          <p:nvPr>
            <p:ph idx="1"/>
          </p:nvPr>
        </p:nvSpPr>
        <p:spPr bwMode="auto">
          <a:xfrm>
            <a:off x="838200" y="2016136"/>
            <a:ext cx="1085235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Product Coverage</a:t>
            </a:r>
            <a:r>
              <a:rPr kumimoji="0" lang="en-US" altLang="en-US" sz="1800" b="0" i="0" u="none" strike="noStrike" cap="none" normalizeH="0" baseline="0" dirty="0" smtClean="0">
                <a:ln>
                  <a:noFill/>
                </a:ln>
                <a:solidFill>
                  <a:schemeClr val="tx1"/>
                </a:solidFill>
                <a:effectLst/>
                <a:latin typeface="Arial" panose="020B0604020202020204" pitchFamily="34" charset="0"/>
              </a:rPr>
              <a:t>: This technique assesses various parts or modules of the application to ensure comprehensive testing. For example, in a shopping cart application, product coverage would involve testing functionalities like adding or removing items, handling maximum item limits, and managing out-of-stock scenarios.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Risk Coverage</a:t>
            </a:r>
            <a:r>
              <a:rPr kumimoji="0" lang="en-US" altLang="en-US" sz="1800" b="0" i="0" u="none" strike="noStrike" cap="none" normalizeH="0" baseline="0" dirty="0" smtClean="0">
                <a:ln>
                  <a:noFill/>
                </a:ln>
                <a:solidFill>
                  <a:schemeClr val="tx1"/>
                </a:solidFill>
                <a:effectLst/>
                <a:latin typeface="Arial" panose="020B0604020202020204" pitchFamily="34" charset="0"/>
              </a:rPr>
              <a:t>: Focuses on identifying and thoroughly testing high-risk elements within the application. For instance, in an e-Commerce app, a critical risk element could be the integration with third-party payment gateways. Testing would involve scenarios such as successful payment processing, handling payment failures, and ensuring secure data transmission.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Requirements Coverage</a:t>
            </a:r>
            <a:r>
              <a:rPr kumimoji="0" lang="en-US" altLang="en-US" sz="1800" b="0" i="0" u="none" strike="noStrike" cap="none" normalizeH="0" baseline="0" dirty="0" smtClean="0">
                <a:ln>
                  <a:noFill/>
                </a:ln>
                <a:solidFill>
                  <a:schemeClr val="tx1"/>
                </a:solidFill>
                <a:effectLst/>
                <a:latin typeface="Arial" panose="020B0604020202020204" pitchFamily="34" charset="0"/>
              </a:rPr>
              <a:t>: Ensures that the application meets all specified customer requirements. This involves verifying that each feature and functionality aligns with the documented expectations and performs as intended.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8977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b="1" dirty="0" smtClean="0"/>
              <a:t>Code Coverage</a:t>
            </a:r>
            <a:r>
              <a:rPr lang="en-US" dirty="0" smtClean="0"/>
              <a:t>: Measures the extent to which the source code has been tested. It includes various metrics such as:</a:t>
            </a:r>
          </a:p>
          <a:p>
            <a:pPr lvl="1"/>
            <a:r>
              <a:rPr lang="en-US" b="1" dirty="0" smtClean="0"/>
              <a:t>Function Coverage</a:t>
            </a:r>
            <a:r>
              <a:rPr lang="en-US" dirty="0" smtClean="0"/>
              <a:t>: Determines whether each function in the code has been invoked during testing.</a:t>
            </a:r>
          </a:p>
          <a:p>
            <a:pPr lvl="1"/>
            <a:r>
              <a:rPr lang="en-US" b="1" dirty="0" smtClean="0"/>
              <a:t>Statement Coverage</a:t>
            </a:r>
            <a:r>
              <a:rPr lang="en-US" dirty="0" smtClean="0"/>
              <a:t>: Assesses whether each executable statement has been executed.</a:t>
            </a:r>
          </a:p>
          <a:p>
            <a:pPr lvl="1"/>
            <a:r>
              <a:rPr lang="en-US" b="1" dirty="0" smtClean="0"/>
              <a:t>Branch Coverage</a:t>
            </a:r>
            <a:r>
              <a:rPr lang="en-US" dirty="0" smtClean="0"/>
              <a:t>: Evaluates whether all possible branches (e.g., in conditional statements) have been tested.</a:t>
            </a:r>
          </a:p>
          <a:p>
            <a:pPr lvl="1"/>
            <a:r>
              <a:rPr lang="en-US" b="1" dirty="0" smtClean="0"/>
              <a:t>Condition Coverage</a:t>
            </a:r>
            <a:r>
              <a:rPr lang="en-US" dirty="0" smtClean="0"/>
              <a:t>: Checks whether all </a:t>
            </a:r>
            <a:r>
              <a:rPr lang="en-US" dirty="0" err="1" smtClean="0"/>
              <a:t>boolean</a:t>
            </a:r>
            <a:r>
              <a:rPr lang="en-US" dirty="0" smtClean="0"/>
              <a:t> expressions have been evaluated to both true and false</a:t>
            </a:r>
            <a:endParaRPr lang="en-US" dirty="0"/>
          </a:p>
        </p:txBody>
      </p:sp>
    </p:spTree>
    <p:extLst>
      <p:ext uri="{BB962C8B-B14F-4D97-AF65-F5344CB8AC3E}">
        <p14:creationId xmlns:p14="http://schemas.microsoft.com/office/powerpoint/2010/main" val="2031433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br>
              <a:rPr lang="en-US" b="1" dirty="0" smtClean="0"/>
            </a:br>
            <a:r>
              <a:rPr lang="en-US" b="1" dirty="0" smtClean="0"/>
              <a:t>of Verification and Validation</a:t>
            </a:r>
            <a:endParaRPr lang="en-US" b="1" dirty="0"/>
          </a:p>
        </p:txBody>
      </p:sp>
      <p:sp>
        <p:nvSpPr>
          <p:cNvPr id="3" name="Content Placeholder 2"/>
          <p:cNvSpPr>
            <a:spLocks noGrp="1"/>
          </p:cNvSpPr>
          <p:nvPr>
            <p:ph idx="1"/>
          </p:nvPr>
        </p:nvSpPr>
        <p:spPr/>
        <p:txBody>
          <a:bodyPr>
            <a:normAutofit lnSpcReduction="10000"/>
          </a:bodyPr>
          <a:lstStyle/>
          <a:p>
            <a:r>
              <a:rPr lang="en-US" b="1" dirty="0" smtClean="0"/>
              <a:t>Planning and Strategy:</a:t>
            </a:r>
            <a:endParaRPr lang="en-US" dirty="0" smtClean="0"/>
          </a:p>
          <a:p>
            <a:r>
              <a:rPr lang="en-US" b="1" dirty="0" smtClean="0"/>
              <a:t>Define clear objectives:</a:t>
            </a:r>
            <a:r>
              <a:rPr lang="en-US" dirty="0" smtClean="0"/>
              <a:t> Establish specific goals for V&amp;V activities, aligning them with project requirements and stakeholder expectations.</a:t>
            </a:r>
          </a:p>
          <a:p>
            <a:r>
              <a:rPr lang="en-US" b="1" dirty="0" smtClean="0"/>
              <a:t>Develop a V&amp;V plan:</a:t>
            </a:r>
            <a:r>
              <a:rPr lang="en-US" dirty="0" smtClean="0"/>
              <a:t> Outline the scope, methods, resources, and timelines for verification and validation activities.</a:t>
            </a:r>
          </a:p>
          <a:p>
            <a:r>
              <a:rPr lang="en-US" b="1" dirty="0" smtClean="0"/>
              <a:t>Identify critical areas:</a:t>
            </a:r>
            <a:r>
              <a:rPr lang="en-US" dirty="0" smtClean="0"/>
              <a:t> Prioritize V&amp;V efforts on critical components and functionalities of the software.</a:t>
            </a:r>
          </a:p>
          <a:p>
            <a:r>
              <a:rPr lang="en-US" b="1" dirty="0" smtClean="0"/>
              <a:t>Establish acceptance criteria:</a:t>
            </a:r>
            <a:r>
              <a:rPr lang="en-US" dirty="0" smtClean="0"/>
              <a:t> Define clear criteria for evaluating the success of V&amp;V activities.</a:t>
            </a:r>
            <a:endParaRPr lang="en-US" dirty="0"/>
          </a:p>
        </p:txBody>
      </p:sp>
    </p:spTree>
    <p:extLst>
      <p:ext uri="{BB962C8B-B14F-4D97-AF65-F5344CB8AC3E}">
        <p14:creationId xmlns:p14="http://schemas.microsoft.com/office/powerpoint/2010/main" val="1370716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b="1" dirty="0" smtClean="0"/>
              <a:t>Verification Activities:</a:t>
            </a:r>
            <a:endParaRPr lang="en-US" dirty="0" smtClean="0"/>
          </a:p>
          <a:p>
            <a:r>
              <a:rPr lang="en-US" b="1" dirty="0" smtClean="0"/>
              <a:t>Requirements review:</a:t>
            </a:r>
            <a:r>
              <a:rPr lang="en-US" dirty="0" smtClean="0"/>
              <a:t> Conduct thorough reviews of requirements documents to ensure clarity, completeness, and consistency.</a:t>
            </a:r>
          </a:p>
          <a:p>
            <a:r>
              <a:rPr lang="en-US" b="1" dirty="0" smtClean="0"/>
              <a:t>Design inspections:</a:t>
            </a:r>
            <a:r>
              <a:rPr lang="en-US" dirty="0" smtClean="0"/>
              <a:t> Inspect design documents to identify potential flaws and ensure adherence to standards.</a:t>
            </a:r>
          </a:p>
          <a:p>
            <a:r>
              <a:rPr lang="en-US" b="1" dirty="0" smtClean="0"/>
              <a:t>Code reviews:</a:t>
            </a:r>
            <a:r>
              <a:rPr lang="en-US" dirty="0" smtClean="0"/>
              <a:t> Review code to detect errors, ensure code quality, and enforce coding standards.</a:t>
            </a:r>
          </a:p>
          <a:p>
            <a:r>
              <a:rPr lang="en-US" b="1" dirty="0" smtClean="0"/>
              <a:t>Testing:</a:t>
            </a:r>
            <a:r>
              <a:rPr lang="en-US" dirty="0" smtClean="0"/>
              <a:t> Perform various types of testing, including unit testing, integration testing, and system testing, to verify that the software meets specified requirements.</a:t>
            </a:r>
            <a:endParaRPr lang="en-US" dirty="0"/>
          </a:p>
        </p:txBody>
      </p:sp>
    </p:spTree>
    <p:extLst>
      <p:ext uri="{BB962C8B-B14F-4D97-AF65-F5344CB8AC3E}">
        <p14:creationId xmlns:p14="http://schemas.microsoft.com/office/powerpoint/2010/main" val="1205334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smtClean="0"/>
              <a:t>Validation Activities:</a:t>
            </a:r>
            <a:endParaRPr lang="en-US" dirty="0" smtClean="0"/>
          </a:p>
          <a:p>
            <a:r>
              <a:rPr lang="en-US" b="1" dirty="0" smtClean="0"/>
              <a:t>User acceptance testing (UAT):</a:t>
            </a:r>
            <a:r>
              <a:rPr lang="en-US" dirty="0" smtClean="0"/>
              <a:t> Involve end-users in testing the software to ensure it meets their needs and expectations.</a:t>
            </a:r>
          </a:p>
          <a:p>
            <a:r>
              <a:rPr lang="en-US" b="1" dirty="0" smtClean="0"/>
              <a:t>Beta testing:</a:t>
            </a:r>
            <a:r>
              <a:rPr lang="en-US" dirty="0" smtClean="0"/>
              <a:t> Release the software to a limited number of users for real-world testing and feedback.</a:t>
            </a:r>
          </a:p>
          <a:p>
            <a:r>
              <a:rPr lang="en-US" b="1" dirty="0" smtClean="0"/>
              <a:t>Usability testing:</a:t>
            </a:r>
            <a:r>
              <a:rPr lang="en-US" dirty="0" smtClean="0"/>
              <a:t> Evaluate the user interface and user experience to ensure ease of use and effectiveness.</a:t>
            </a:r>
          </a:p>
          <a:p>
            <a:r>
              <a:rPr lang="en-US" b="1" dirty="0" smtClean="0"/>
              <a:t>Performance testing:</a:t>
            </a:r>
            <a:r>
              <a:rPr lang="en-US" dirty="0" smtClean="0"/>
              <a:t> Assess the software's performance under various conditions to ensure it meets performance requirements.</a:t>
            </a:r>
            <a:endParaRPr lang="en-US" dirty="0"/>
          </a:p>
        </p:txBody>
      </p:sp>
    </p:spTree>
    <p:extLst>
      <p:ext uri="{BB962C8B-B14F-4D97-AF65-F5344CB8AC3E}">
        <p14:creationId xmlns:p14="http://schemas.microsoft.com/office/powerpoint/2010/main" val="2022782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dirty="0" smtClean="0"/>
              <a:t>Management and Control:</a:t>
            </a:r>
            <a:endParaRPr lang="en-US" dirty="0" smtClean="0"/>
          </a:p>
          <a:p>
            <a:r>
              <a:rPr lang="en-US" b="1" dirty="0" smtClean="0"/>
              <a:t>Traceability:</a:t>
            </a:r>
            <a:r>
              <a:rPr lang="en-US" dirty="0" smtClean="0"/>
              <a:t> Maintain traceability between requirements, design elements, code, and test cases to ensure comprehensive coverage.</a:t>
            </a:r>
          </a:p>
          <a:p>
            <a:r>
              <a:rPr lang="en-US" b="1" dirty="0" smtClean="0"/>
              <a:t>Configuration management:</a:t>
            </a:r>
            <a:r>
              <a:rPr lang="en-US" dirty="0" smtClean="0"/>
              <a:t> Manage and control changes to software artifacts to maintain consistency and avoid errors.</a:t>
            </a:r>
          </a:p>
          <a:p>
            <a:r>
              <a:rPr lang="en-US" b="1" dirty="0" smtClean="0"/>
              <a:t>Defect tracking:</a:t>
            </a:r>
            <a:r>
              <a:rPr lang="en-US" dirty="0" smtClean="0"/>
              <a:t> Track and manage defects identified during V&amp;V activities, prioritizing their resolution.</a:t>
            </a:r>
          </a:p>
          <a:p>
            <a:r>
              <a:rPr lang="en-US" b="1" dirty="0" smtClean="0"/>
              <a:t>Metrics and reporting:</a:t>
            </a:r>
            <a:r>
              <a:rPr lang="en-US" dirty="0" smtClean="0"/>
              <a:t> Collect and analyze metrics to assess the effectiveness of V&amp;V activities and identify areas for improvement.</a:t>
            </a:r>
          </a:p>
          <a:p>
            <a:r>
              <a:rPr lang="en-US" b="1" dirty="0" smtClean="0"/>
              <a:t>Communication:</a:t>
            </a:r>
            <a:r>
              <a:rPr lang="en-US" dirty="0" smtClean="0"/>
              <a:t> Establish clear communication channels among stakeholders to ensure effective collaboration and timely feedback.</a:t>
            </a:r>
            <a:endParaRPr lang="en-US" dirty="0"/>
          </a:p>
        </p:txBody>
      </p:sp>
    </p:spTree>
    <p:extLst>
      <p:ext uri="{BB962C8B-B14F-4D97-AF65-F5344CB8AC3E}">
        <p14:creationId xmlns:p14="http://schemas.microsoft.com/office/powerpoint/2010/main" val="3717174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smtClean="0"/>
              <a:t>Continuous Improvement:</a:t>
            </a:r>
            <a:endParaRPr lang="en-US" dirty="0" smtClean="0"/>
          </a:p>
          <a:p>
            <a:r>
              <a:rPr lang="en-US" b="1" dirty="0" smtClean="0"/>
              <a:t>Lessons learned:</a:t>
            </a:r>
            <a:r>
              <a:rPr lang="en-US" dirty="0" smtClean="0"/>
              <a:t> Capture lessons learned from V&amp;V activities to improve future processes.</a:t>
            </a:r>
          </a:p>
          <a:p>
            <a:r>
              <a:rPr lang="en-US" b="1" dirty="0" smtClean="0"/>
              <a:t>Process improvement:</a:t>
            </a:r>
            <a:r>
              <a:rPr lang="en-US" dirty="0" smtClean="0"/>
              <a:t> Continuously evaluate and improve V&amp;V processes to enhance efficiency and effectiveness.</a:t>
            </a:r>
          </a:p>
          <a:p>
            <a:r>
              <a:rPr lang="en-US" b="1" dirty="0" smtClean="0"/>
              <a:t>Tooling:</a:t>
            </a:r>
            <a:r>
              <a:rPr lang="en-US" dirty="0" smtClean="0"/>
              <a:t> Utilize appropriate tools to support V&amp;V activities, such as test management tools, defect tracking tools, and code analysis tools.</a:t>
            </a:r>
            <a:endParaRPr lang="en-US" dirty="0"/>
          </a:p>
        </p:txBody>
      </p:sp>
    </p:spTree>
    <p:extLst>
      <p:ext uri="{BB962C8B-B14F-4D97-AF65-F5344CB8AC3E}">
        <p14:creationId xmlns:p14="http://schemas.microsoft.com/office/powerpoint/2010/main" val="1671652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Software development verification and validation </a:t>
            </a:r>
            <a:br>
              <a:rPr lang="en-US" b="1" dirty="0" smtClean="0"/>
            </a:br>
            <a:r>
              <a:rPr lang="en-US" b="1" dirty="0" smtClean="0"/>
              <a:t>activities.</a:t>
            </a:r>
            <a:endParaRPr lang="en-US" b="1" dirty="0"/>
          </a:p>
        </p:txBody>
      </p:sp>
      <p:sp>
        <p:nvSpPr>
          <p:cNvPr id="3" name="Content Placeholder 2"/>
          <p:cNvSpPr>
            <a:spLocks noGrp="1"/>
          </p:cNvSpPr>
          <p:nvPr>
            <p:ph idx="1"/>
          </p:nvPr>
        </p:nvSpPr>
        <p:spPr/>
        <p:txBody>
          <a:bodyPr/>
          <a:lstStyle/>
          <a:p>
            <a:r>
              <a:rPr lang="en-US" b="1" dirty="0" smtClean="0"/>
              <a:t>Verification Activities (Are we building the product right?):</a:t>
            </a:r>
            <a:endParaRPr lang="en-US" dirty="0" smtClean="0"/>
          </a:p>
          <a:p>
            <a:r>
              <a:rPr lang="en-US" b="1" dirty="0" smtClean="0"/>
              <a:t>Requirements Review:</a:t>
            </a:r>
            <a:r>
              <a:rPr lang="en-US" dirty="0" smtClean="0"/>
              <a:t> </a:t>
            </a:r>
          </a:p>
          <a:p>
            <a:pPr lvl="1"/>
            <a:r>
              <a:rPr lang="en-US" b="1" dirty="0" smtClean="0"/>
              <a:t>Goal:</a:t>
            </a:r>
            <a:r>
              <a:rPr lang="en-US" dirty="0" smtClean="0"/>
              <a:t> Ensure requirements are clear, complete, consistent, and testable.</a:t>
            </a:r>
          </a:p>
          <a:p>
            <a:pPr lvl="1"/>
            <a:r>
              <a:rPr lang="en-US" b="1" dirty="0" smtClean="0"/>
              <a:t>Activities:</a:t>
            </a:r>
            <a:r>
              <a:rPr lang="en-US" dirty="0" smtClean="0"/>
              <a:t> </a:t>
            </a:r>
          </a:p>
          <a:p>
            <a:pPr lvl="2"/>
            <a:r>
              <a:rPr lang="en-US" dirty="0" smtClean="0"/>
              <a:t>Reviewing requirements documents with stakeholders.</a:t>
            </a:r>
          </a:p>
          <a:p>
            <a:pPr lvl="2"/>
            <a:r>
              <a:rPr lang="en-US" dirty="0" smtClean="0"/>
              <a:t>Identifying ambiguities, inconsistencies, or missing information.</a:t>
            </a:r>
          </a:p>
          <a:p>
            <a:pPr lvl="2"/>
            <a:r>
              <a:rPr lang="en-US" dirty="0" smtClean="0"/>
              <a:t>Ensuring requirements are traceable and prioritized.</a:t>
            </a:r>
            <a:endParaRPr lang="en-US" dirty="0"/>
          </a:p>
        </p:txBody>
      </p:sp>
    </p:spTree>
    <p:extLst>
      <p:ext uri="{BB962C8B-B14F-4D97-AF65-F5344CB8AC3E}">
        <p14:creationId xmlns:p14="http://schemas.microsoft.com/office/powerpoint/2010/main" val="1436410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487" y="301658"/>
            <a:ext cx="10901313" cy="5875305"/>
          </a:xfrm>
        </p:spPr>
        <p:txBody>
          <a:bodyPr>
            <a:normAutofit/>
          </a:bodyPr>
          <a:lstStyle/>
          <a:p>
            <a:r>
              <a:rPr lang="en-US" b="1" dirty="0" smtClean="0"/>
              <a:t>Design Inspections:</a:t>
            </a:r>
            <a:r>
              <a:rPr lang="en-US" dirty="0" smtClean="0"/>
              <a:t> </a:t>
            </a:r>
            <a:r>
              <a:rPr lang="en-US" b="1" dirty="0" smtClean="0"/>
              <a:t>Goal:</a:t>
            </a:r>
            <a:r>
              <a:rPr lang="en-US" dirty="0" smtClean="0"/>
              <a:t> Evaluate software design to identify potential flaws and ensure adherence to standards.</a:t>
            </a:r>
          </a:p>
          <a:p>
            <a:r>
              <a:rPr lang="en-US" b="1" dirty="0" smtClean="0"/>
              <a:t>Activities:</a:t>
            </a:r>
            <a:r>
              <a:rPr lang="en-US" dirty="0" smtClean="0"/>
              <a:t> </a:t>
            </a:r>
          </a:p>
          <a:p>
            <a:pPr lvl="1"/>
            <a:r>
              <a:rPr lang="en-US" dirty="0" smtClean="0"/>
              <a:t>Inspecting design documents (architecture, modules, interfaces).</a:t>
            </a:r>
          </a:p>
          <a:p>
            <a:pPr lvl="1"/>
            <a:r>
              <a:rPr lang="en-US" dirty="0" smtClean="0"/>
              <a:t>Checking for design flaws, inefficiencies, or security vulnerabilities.</a:t>
            </a:r>
          </a:p>
          <a:p>
            <a:pPr lvl="1"/>
            <a:r>
              <a:rPr lang="en-US" dirty="0" smtClean="0"/>
              <a:t>Ensuring design aligns with requirements and coding standards.</a:t>
            </a:r>
          </a:p>
          <a:p>
            <a:r>
              <a:rPr lang="en-US" b="1" dirty="0" smtClean="0"/>
              <a:t>Code Reviews:</a:t>
            </a:r>
            <a:r>
              <a:rPr lang="en-US" dirty="0" smtClean="0"/>
              <a:t> </a:t>
            </a:r>
            <a:r>
              <a:rPr lang="en-US" b="1" dirty="0" smtClean="0"/>
              <a:t>Goal:</a:t>
            </a:r>
            <a:r>
              <a:rPr lang="en-US" dirty="0" smtClean="0"/>
              <a:t> Examine code to detect errors, ensure code quality, and enforce coding standards.</a:t>
            </a:r>
          </a:p>
          <a:p>
            <a:r>
              <a:rPr lang="en-US" b="1" dirty="0" smtClean="0"/>
              <a:t>Activities:</a:t>
            </a:r>
            <a:r>
              <a:rPr lang="en-US" dirty="0" smtClean="0"/>
              <a:t> </a:t>
            </a:r>
          </a:p>
          <a:p>
            <a:pPr lvl="1"/>
            <a:r>
              <a:rPr lang="en-US" dirty="0" smtClean="0"/>
              <a:t>Manual code reviews by developers.</a:t>
            </a:r>
          </a:p>
          <a:p>
            <a:pPr lvl="1"/>
            <a:r>
              <a:rPr lang="en-US" dirty="0" smtClean="0"/>
              <a:t>Static code analysis using automated tools.</a:t>
            </a:r>
          </a:p>
          <a:p>
            <a:pPr lvl="1"/>
            <a:r>
              <a:rPr lang="en-US" dirty="0" smtClean="0"/>
              <a:t>Identifying potential bugs, code smells, or security issues.</a:t>
            </a:r>
          </a:p>
          <a:p>
            <a:pPr marL="457200" lvl="1" indent="0">
              <a:buNone/>
            </a:pPr>
            <a:endParaRPr lang="en-US" dirty="0"/>
          </a:p>
        </p:txBody>
      </p:sp>
    </p:spTree>
    <p:extLst>
      <p:ext uri="{BB962C8B-B14F-4D97-AF65-F5344CB8AC3E}">
        <p14:creationId xmlns:p14="http://schemas.microsoft.com/office/powerpoint/2010/main" val="2838755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Testing:</a:t>
            </a:r>
            <a:r>
              <a:rPr lang="en-US" dirty="0" smtClean="0"/>
              <a:t> </a:t>
            </a:r>
            <a:r>
              <a:rPr lang="en-US" b="1" dirty="0" smtClean="0"/>
              <a:t>Goal:</a:t>
            </a:r>
            <a:r>
              <a:rPr lang="en-US" dirty="0" smtClean="0"/>
              <a:t> Verify that the software meets specified requirements.</a:t>
            </a:r>
          </a:p>
          <a:p>
            <a:r>
              <a:rPr lang="en-US" b="1" dirty="0" smtClean="0"/>
              <a:t>Activities:</a:t>
            </a:r>
            <a:r>
              <a:rPr lang="en-US" dirty="0" smtClean="0"/>
              <a:t> </a:t>
            </a:r>
          </a:p>
          <a:p>
            <a:pPr lvl="1"/>
            <a:r>
              <a:rPr lang="en-US" dirty="0" smtClean="0"/>
              <a:t>Unit testing: Testing individual components or modules.</a:t>
            </a:r>
          </a:p>
          <a:p>
            <a:pPr lvl="1"/>
            <a:r>
              <a:rPr lang="en-US" dirty="0" smtClean="0"/>
              <a:t>Integration testing: Testing interactions between components.</a:t>
            </a:r>
          </a:p>
          <a:p>
            <a:pPr lvl="1"/>
            <a:r>
              <a:rPr lang="en-US" dirty="0" smtClean="0"/>
              <a:t>System testing: Testing the entire software system.</a:t>
            </a:r>
          </a:p>
          <a:p>
            <a:pPr lvl="1"/>
            <a:r>
              <a:rPr lang="en-US" dirty="0" smtClean="0"/>
              <a:t>Non-functional testing: Performance, security, usability testing.</a:t>
            </a:r>
            <a:endParaRPr lang="en-US" dirty="0"/>
          </a:p>
        </p:txBody>
      </p:sp>
    </p:spTree>
    <p:extLst>
      <p:ext uri="{BB962C8B-B14F-4D97-AF65-F5344CB8AC3E}">
        <p14:creationId xmlns:p14="http://schemas.microsoft.com/office/powerpoint/2010/main" val="24867712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3889" y="150829"/>
            <a:ext cx="10878532" cy="6570482"/>
          </a:xfrm>
        </p:spPr>
        <p:txBody>
          <a:bodyPr>
            <a:normAutofit/>
          </a:bodyPr>
          <a:lstStyle/>
          <a:p>
            <a:r>
              <a:rPr lang="en-US" b="1" dirty="0" smtClean="0"/>
              <a:t>Validation Activities (Are we building the right product?):</a:t>
            </a:r>
            <a:endParaRPr lang="en-US" dirty="0" smtClean="0"/>
          </a:p>
          <a:p>
            <a:r>
              <a:rPr lang="en-US" b="1" dirty="0" smtClean="0"/>
              <a:t>User Acceptance Testing (UAT):</a:t>
            </a:r>
            <a:r>
              <a:rPr lang="en-US" dirty="0" smtClean="0"/>
              <a:t> </a:t>
            </a:r>
          </a:p>
          <a:p>
            <a:pPr lvl="1"/>
            <a:r>
              <a:rPr lang="en-US" b="1" dirty="0" smtClean="0"/>
              <a:t>Goal:</a:t>
            </a:r>
            <a:r>
              <a:rPr lang="en-US" dirty="0" smtClean="0"/>
              <a:t> Involve end-users to ensure the software meets their needs and expectations.</a:t>
            </a:r>
          </a:p>
          <a:p>
            <a:pPr lvl="1"/>
            <a:r>
              <a:rPr lang="en-US" b="1" dirty="0" smtClean="0"/>
              <a:t>Activities:</a:t>
            </a:r>
            <a:r>
              <a:rPr lang="en-US" dirty="0" smtClean="0"/>
              <a:t> </a:t>
            </a:r>
          </a:p>
          <a:p>
            <a:pPr lvl="2"/>
            <a:r>
              <a:rPr lang="en-US" dirty="0" smtClean="0"/>
              <a:t>End-users test the software in a real-world environment.</a:t>
            </a:r>
          </a:p>
          <a:p>
            <a:pPr lvl="2"/>
            <a:r>
              <a:rPr lang="en-US" dirty="0" smtClean="0"/>
              <a:t>Providing feedback on usability, functionality, and performance.</a:t>
            </a:r>
          </a:p>
          <a:p>
            <a:pPr lvl="2"/>
            <a:r>
              <a:rPr lang="en-US" dirty="0" smtClean="0"/>
              <a:t>Determining if the software meets user acceptance criteria.</a:t>
            </a:r>
          </a:p>
          <a:p>
            <a:r>
              <a:rPr lang="en-US" b="1" dirty="0" smtClean="0"/>
              <a:t>Beta Testing:</a:t>
            </a:r>
            <a:r>
              <a:rPr lang="en-US" dirty="0" smtClean="0"/>
              <a:t> </a:t>
            </a:r>
            <a:r>
              <a:rPr lang="en-US" b="1" dirty="0" smtClean="0"/>
              <a:t>Goal:</a:t>
            </a:r>
            <a:r>
              <a:rPr lang="en-US" dirty="0" smtClean="0"/>
              <a:t> Release the software to a limited number of users for real-world testing and feedback.</a:t>
            </a:r>
          </a:p>
          <a:p>
            <a:r>
              <a:rPr lang="en-US" b="1" dirty="0" smtClean="0"/>
              <a:t>Activities:</a:t>
            </a:r>
            <a:r>
              <a:rPr lang="en-US" dirty="0" smtClean="0"/>
              <a:t> </a:t>
            </a:r>
          </a:p>
          <a:p>
            <a:pPr lvl="1"/>
            <a:r>
              <a:rPr lang="en-US" dirty="0" smtClean="0"/>
              <a:t>Gathering feedback from beta users on their experience.</a:t>
            </a:r>
          </a:p>
          <a:p>
            <a:pPr lvl="1"/>
            <a:r>
              <a:rPr lang="en-US" dirty="0" smtClean="0"/>
              <a:t>Identifying any remaining bugs or usability issues.</a:t>
            </a:r>
          </a:p>
          <a:p>
            <a:pPr lvl="1"/>
            <a:r>
              <a:rPr lang="en-US" dirty="0" smtClean="0"/>
              <a:t>Using feedback to improve the software before final release.</a:t>
            </a:r>
          </a:p>
          <a:p>
            <a:pPr marL="914400" lvl="2" indent="0">
              <a:buNone/>
            </a:pPr>
            <a:endParaRPr lang="en-US" dirty="0"/>
          </a:p>
        </p:txBody>
      </p:sp>
    </p:spTree>
    <p:extLst>
      <p:ext uri="{BB962C8B-B14F-4D97-AF65-F5344CB8AC3E}">
        <p14:creationId xmlns:p14="http://schemas.microsoft.com/office/powerpoint/2010/main" val="1997643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792" y="131975"/>
            <a:ext cx="11005008" cy="6044988"/>
          </a:xfrm>
        </p:spPr>
        <p:txBody>
          <a:bodyPr/>
          <a:lstStyle/>
          <a:p>
            <a:r>
              <a:rPr lang="en-US" b="1" dirty="0" smtClean="0"/>
              <a:t>Usability Testing:</a:t>
            </a:r>
            <a:r>
              <a:rPr lang="en-US" dirty="0" smtClean="0"/>
              <a:t> </a:t>
            </a:r>
            <a:r>
              <a:rPr lang="en-US" b="1" dirty="0" smtClean="0"/>
              <a:t>Goal:</a:t>
            </a:r>
            <a:r>
              <a:rPr lang="en-US" dirty="0" smtClean="0"/>
              <a:t> Evaluate the user interface and user experience to ensure ease of use and effectiveness.</a:t>
            </a:r>
          </a:p>
          <a:p>
            <a:r>
              <a:rPr lang="en-US" b="1" dirty="0" smtClean="0"/>
              <a:t>Activities:</a:t>
            </a:r>
            <a:r>
              <a:rPr lang="en-US" dirty="0" smtClean="0"/>
              <a:t> </a:t>
            </a:r>
          </a:p>
          <a:p>
            <a:pPr lvl="1"/>
            <a:r>
              <a:rPr lang="en-US" dirty="0" smtClean="0"/>
              <a:t>Observing users interacting with the software.</a:t>
            </a:r>
          </a:p>
          <a:p>
            <a:pPr lvl="1"/>
            <a:r>
              <a:rPr lang="en-US" dirty="0" smtClean="0"/>
              <a:t>Collecting data on user performance and satisfaction.</a:t>
            </a:r>
          </a:p>
          <a:p>
            <a:pPr lvl="1"/>
            <a:r>
              <a:rPr lang="en-US" dirty="0" smtClean="0"/>
              <a:t>Identifying areas for improvement in the user interface</a:t>
            </a:r>
          </a:p>
          <a:p>
            <a:r>
              <a:rPr lang="en-US" b="1" dirty="0" smtClean="0"/>
              <a:t>Performance Testing:</a:t>
            </a:r>
            <a:r>
              <a:rPr lang="en-US" dirty="0" smtClean="0"/>
              <a:t> </a:t>
            </a:r>
            <a:r>
              <a:rPr lang="en-US" b="1" dirty="0" smtClean="0"/>
              <a:t>Goal:</a:t>
            </a:r>
            <a:r>
              <a:rPr lang="en-US" dirty="0" smtClean="0"/>
              <a:t> Assess the software's performance under various conditions.</a:t>
            </a:r>
          </a:p>
          <a:p>
            <a:r>
              <a:rPr lang="en-US" b="1" dirty="0" smtClean="0"/>
              <a:t>Activities:</a:t>
            </a:r>
            <a:r>
              <a:rPr lang="en-US" dirty="0" smtClean="0"/>
              <a:t> </a:t>
            </a:r>
          </a:p>
          <a:p>
            <a:pPr lvl="1"/>
            <a:r>
              <a:rPr lang="en-US" dirty="0" smtClean="0"/>
              <a:t>Load testing: Testing the software under heavy load.</a:t>
            </a:r>
          </a:p>
          <a:p>
            <a:pPr lvl="1"/>
            <a:r>
              <a:rPr lang="en-US" dirty="0" smtClean="0"/>
              <a:t>Stress testing: Testing the software beyond normal limits.</a:t>
            </a:r>
          </a:p>
          <a:p>
            <a:pPr lvl="1"/>
            <a:r>
              <a:rPr lang="en-US" dirty="0" smtClean="0"/>
              <a:t>Performance testing: Measuring response times and resource usage.</a:t>
            </a:r>
          </a:p>
          <a:p>
            <a:pPr marL="457200" lvl="1" indent="0">
              <a:buNone/>
            </a:pPr>
            <a:endParaRPr lang="en-US" dirty="0"/>
          </a:p>
        </p:txBody>
      </p:sp>
    </p:spTree>
    <p:extLst>
      <p:ext uri="{BB962C8B-B14F-4D97-AF65-F5344CB8AC3E}">
        <p14:creationId xmlns:p14="http://schemas.microsoft.com/office/powerpoint/2010/main" val="10045007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V Model in Software Testing</a:t>
            </a:r>
            <a:r>
              <a:rPr lang="en-US" b="1" dirty="0" smtClean="0"/>
              <a:t>?</a:t>
            </a:r>
            <a:endParaRPr lang="en-IN" dirty="0"/>
          </a:p>
        </p:txBody>
      </p:sp>
      <p:sp>
        <p:nvSpPr>
          <p:cNvPr id="3" name="Content Placeholder 2"/>
          <p:cNvSpPr>
            <a:spLocks noGrp="1"/>
          </p:cNvSpPr>
          <p:nvPr>
            <p:ph idx="1"/>
          </p:nvPr>
        </p:nvSpPr>
        <p:spPr/>
        <p:txBody>
          <a:bodyPr>
            <a:normAutofit lnSpcReduction="10000"/>
          </a:bodyPr>
          <a:lstStyle/>
          <a:p>
            <a:r>
              <a:rPr lang="en-US" dirty="0"/>
              <a:t>V Model in Software testing is an SDLC model where the test execution takes place in a hierarchical manner. The execution process makes a V-shape. It is also called a Verification and Validation model that undertakes the testing process for every development phase.</a:t>
            </a:r>
          </a:p>
          <a:p>
            <a:r>
              <a:rPr lang="en-US" dirty="0"/>
              <a:t>For instance, if the developers roll out a new feature. Only after the testing of that new feature is over does the next phase of the V model start.</a:t>
            </a:r>
          </a:p>
          <a:p>
            <a:r>
              <a:rPr lang="en-US" dirty="0"/>
              <a:t>The V model in Software testing is useful for providing a systematic and visual representation of the SDLC process in a sequential manner. The shape ‘V’ represents the development and testing phase occurring together before moving on to the next stage.</a:t>
            </a:r>
          </a:p>
        </p:txBody>
      </p:sp>
    </p:spTree>
    <p:extLst>
      <p:ext uri="{BB962C8B-B14F-4D97-AF65-F5344CB8AC3E}">
        <p14:creationId xmlns:p14="http://schemas.microsoft.com/office/powerpoint/2010/main" val="15888244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2439" y="754340"/>
            <a:ext cx="6706402" cy="5343747"/>
          </a:xfrm>
          <a:prstGeom prst="rect">
            <a:avLst/>
          </a:prstGeom>
        </p:spPr>
      </p:pic>
    </p:spTree>
    <p:extLst>
      <p:ext uri="{BB962C8B-B14F-4D97-AF65-F5344CB8AC3E}">
        <p14:creationId xmlns:p14="http://schemas.microsoft.com/office/powerpoint/2010/main" val="14632422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Importance of Software Model:</a:t>
            </a:r>
          </a:p>
        </p:txBody>
      </p:sp>
      <p:sp>
        <p:nvSpPr>
          <p:cNvPr id="3" name="Content Placeholder 2"/>
          <p:cNvSpPr>
            <a:spLocks noGrp="1"/>
          </p:cNvSpPr>
          <p:nvPr>
            <p:ph idx="1"/>
          </p:nvPr>
        </p:nvSpPr>
        <p:spPr/>
        <p:txBody>
          <a:bodyPr/>
          <a:lstStyle/>
          <a:p>
            <a:r>
              <a:rPr lang="en-US" dirty="0"/>
              <a:t>A software project involves many development life cycles, so selecting the correct one becomes difficult. Software Development Models require careful selection by looking at the budget, team size, project criticality, and criticality of the product. </a:t>
            </a:r>
            <a:endParaRPr lang="en-US" dirty="0" smtClean="0"/>
          </a:p>
          <a:p>
            <a:r>
              <a:rPr lang="en-US" dirty="0" smtClean="0"/>
              <a:t>Choosing </a:t>
            </a:r>
            <a:r>
              <a:rPr lang="en-US" dirty="0"/>
              <a:t>the suitable model will improve the efficiency of your IT projects and manage risks associated with the software development lifecycle</a:t>
            </a:r>
            <a:endParaRPr lang="en-IN" dirty="0"/>
          </a:p>
        </p:txBody>
      </p:sp>
    </p:spTree>
    <p:extLst>
      <p:ext uri="{BB962C8B-B14F-4D97-AF65-F5344CB8AC3E}">
        <p14:creationId xmlns:p14="http://schemas.microsoft.com/office/powerpoint/2010/main" val="18381970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4607" y="1064787"/>
            <a:ext cx="5607338" cy="4483330"/>
          </a:xfrm>
          <a:prstGeom prst="rect">
            <a:avLst/>
          </a:prstGeom>
        </p:spPr>
      </p:pic>
      <p:pic>
        <p:nvPicPr>
          <p:cNvPr id="3" name="Picture 2"/>
          <p:cNvPicPr>
            <a:picLocks noChangeAspect="1"/>
          </p:cNvPicPr>
          <p:nvPr/>
        </p:nvPicPr>
        <p:blipFill>
          <a:blip r:embed="rId3"/>
          <a:stretch>
            <a:fillRect/>
          </a:stretch>
        </p:blipFill>
        <p:spPr>
          <a:xfrm>
            <a:off x="6142401" y="1064788"/>
            <a:ext cx="5538231" cy="4483330"/>
          </a:xfrm>
          <a:prstGeom prst="rect">
            <a:avLst/>
          </a:prstGeom>
        </p:spPr>
      </p:pic>
    </p:spTree>
    <p:extLst>
      <p:ext uri="{BB962C8B-B14F-4D97-AF65-F5344CB8AC3E}">
        <p14:creationId xmlns:p14="http://schemas.microsoft.com/office/powerpoint/2010/main" val="273772071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736"/>
            <a:ext cx="10515600" cy="747237"/>
          </a:xfrm>
        </p:spPr>
        <p:txBody>
          <a:bodyPr/>
          <a:lstStyle/>
          <a:p>
            <a:r>
              <a:rPr lang="en-IN" b="1" dirty="0"/>
              <a:t>Importance of Correct Model</a:t>
            </a:r>
          </a:p>
        </p:txBody>
      </p:sp>
      <p:sp>
        <p:nvSpPr>
          <p:cNvPr id="3" name="Content Placeholder 2"/>
          <p:cNvSpPr>
            <a:spLocks noGrp="1"/>
          </p:cNvSpPr>
          <p:nvPr>
            <p:ph idx="1"/>
          </p:nvPr>
        </p:nvSpPr>
        <p:spPr>
          <a:xfrm>
            <a:off x="744718" y="904973"/>
            <a:ext cx="10746556" cy="5816338"/>
          </a:xfrm>
        </p:spPr>
        <p:txBody>
          <a:bodyPr>
            <a:normAutofit lnSpcReduction="10000"/>
          </a:bodyPr>
          <a:lstStyle/>
          <a:p>
            <a:r>
              <a:rPr lang="en-US" dirty="0"/>
              <a:t>Looking at the PIC-1 and PIC-2 models, were you able to notice anything? Yes, you are right! PIC-1 shows mistakes in house construction, and the constructed balcony is not helpful as it is practically impossible for one can go there apart from, of course, you are a Spiderman. On the other hand, PIC-2 gives us an idea of practical, well-designed construction. It followed a proper design model before construction, whereas PIC1 has not. Hence, this needs reconstruction to make it correct.</a:t>
            </a:r>
          </a:p>
          <a:p>
            <a:r>
              <a:rPr lang="en-US" dirty="0"/>
              <a:t>In the case of PIC-1, the reconstruction cost is more as the issue comes into the picture late in the construction phase. Effective </a:t>
            </a:r>
            <a:r>
              <a:rPr lang="en-US" b="1" dirty="0"/>
              <a:t>construction time tracking</a:t>
            </a:r>
            <a:r>
              <a:rPr lang="en-US" dirty="0"/>
              <a:t> could have helped identify and address these issues earlier, reducing reconstruction costs and efforts significantly. We could have saved/minimized the reconstruction cost and efforts to the optimum level if a correct house model had been followed before construction or if the problem had been detected earlier in the construction phase.</a:t>
            </a:r>
          </a:p>
        </p:txBody>
      </p:sp>
    </p:spTree>
    <p:extLst>
      <p:ext uri="{BB962C8B-B14F-4D97-AF65-F5344CB8AC3E}">
        <p14:creationId xmlns:p14="http://schemas.microsoft.com/office/powerpoint/2010/main" val="411099569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83392" cy="5865993"/>
          </a:xfrm>
        </p:spPr>
        <p:txBody>
          <a:bodyPr>
            <a:normAutofit/>
          </a:bodyPr>
          <a:lstStyle/>
          <a:p>
            <a:r>
              <a:rPr lang="en-US" sz="3200" dirty="0"/>
              <a:t>The same rule applies in Software Engineering too. The necessity of correct software testing models in the Software Development Life Cycle (SDLC) is inevitable. Ideally, a Software Development Life Cycle consists of the following essential steps:</a:t>
            </a:r>
            <a:br>
              <a:rPr lang="en-US" sz="3200" dirty="0"/>
            </a:br>
            <a:r>
              <a:rPr lang="en-US" sz="3200" b="1" dirty="0"/>
              <a:t>1. Planning</a:t>
            </a:r>
            <a:r>
              <a:rPr lang="en-US" sz="3200" dirty="0"/>
              <a:t/>
            </a:r>
            <a:br>
              <a:rPr lang="en-US" sz="3200" dirty="0"/>
            </a:br>
            <a:r>
              <a:rPr lang="en-US" sz="3200" b="1" dirty="0"/>
              <a:t>2. Analysis</a:t>
            </a:r>
            <a:r>
              <a:rPr lang="en-US" sz="3200" dirty="0"/>
              <a:t/>
            </a:r>
            <a:br>
              <a:rPr lang="en-US" sz="3200" dirty="0"/>
            </a:br>
            <a:r>
              <a:rPr lang="en-US" sz="3200" b="1" dirty="0"/>
              <a:t>3. Design</a:t>
            </a:r>
            <a:r>
              <a:rPr lang="en-US" sz="3200" dirty="0"/>
              <a:t/>
            </a:r>
            <a:br>
              <a:rPr lang="en-US" sz="3200" dirty="0"/>
            </a:br>
            <a:r>
              <a:rPr lang="en-US" sz="3200" b="1" dirty="0"/>
              <a:t>4. Implementation</a:t>
            </a:r>
            <a:r>
              <a:rPr lang="en-US" sz="3200" dirty="0"/>
              <a:t/>
            </a:r>
            <a:br>
              <a:rPr lang="en-US" sz="3200" dirty="0"/>
            </a:br>
            <a:r>
              <a:rPr lang="en-US" sz="3200" b="1" dirty="0"/>
              <a:t>5. Testing &amp; Integration</a:t>
            </a:r>
            <a:r>
              <a:rPr lang="en-US" sz="3200" dirty="0"/>
              <a:t/>
            </a:r>
            <a:br>
              <a:rPr lang="en-US" sz="3200" dirty="0"/>
            </a:br>
            <a:r>
              <a:rPr lang="en-US" sz="3200" b="1" dirty="0"/>
              <a:t>6. Maintenance</a:t>
            </a:r>
            <a:endParaRPr lang="en-US" sz="3200" dirty="0"/>
          </a:p>
        </p:txBody>
      </p:sp>
    </p:spTree>
    <p:extLst>
      <p:ext uri="{BB962C8B-B14F-4D97-AF65-F5344CB8AC3E}">
        <p14:creationId xmlns:p14="http://schemas.microsoft.com/office/powerpoint/2010/main" val="203770007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 Model</a:t>
            </a:r>
          </a:p>
        </p:txBody>
      </p:sp>
      <p:sp>
        <p:nvSpPr>
          <p:cNvPr id="3" name="Content Placeholder 2"/>
          <p:cNvSpPr>
            <a:spLocks noGrp="1"/>
          </p:cNvSpPr>
          <p:nvPr>
            <p:ph idx="1"/>
          </p:nvPr>
        </p:nvSpPr>
        <p:spPr/>
        <p:txBody>
          <a:bodyPr/>
          <a:lstStyle/>
          <a:p>
            <a:r>
              <a:rPr lang="en-US" dirty="0"/>
              <a:t>Also known as the verification and validation model, the V model guides where testing needs to begin as early as possible in the SDLC life cycle. Testing is not only an execution-based activity. It also involves various activities that must be covered before the end of the coding phase. V Model corresponds to both testing activities and development activities in parallel.</a:t>
            </a:r>
          </a:p>
          <a:p>
            <a:r>
              <a:rPr lang="en-US" dirty="0"/>
              <a:t>The following diagram illustrates the different phases in a V Model of the SDLC.</a:t>
            </a:r>
          </a:p>
        </p:txBody>
      </p:sp>
    </p:spTree>
    <p:extLst>
      <p:ext uri="{BB962C8B-B14F-4D97-AF65-F5344CB8AC3E}">
        <p14:creationId xmlns:p14="http://schemas.microsoft.com/office/powerpoint/2010/main" val="341718761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53827" y="332374"/>
            <a:ext cx="7294589" cy="6200401"/>
          </a:xfrm>
          <a:prstGeom prst="rect">
            <a:avLst/>
          </a:prstGeom>
        </p:spPr>
      </p:pic>
    </p:spTree>
    <p:extLst>
      <p:ext uri="{BB962C8B-B14F-4D97-AF65-F5344CB8AC3E}">
        <p14:creationId xmlns:p14="http://schemas.microsoft.com/office/powerpoint/2010/main" val="285986378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As shown above, the V Model contains Verification phases on one side and Validation phases on the other. The implementation/coding phase joins the verification and validation phases in V-shape. Thus it is called a V Model.</a:t>
            </a:r>
          </a:p>
          <a:p>
            <a:r>
              <a:rPr lang="en-US" dirty="0"/>
              <a:t>Now let’s deep dive into the V Model verification and validation phases.</a:t>
            </a:r>
          </a:p>
        </p:txBody>
      </p:sp>
    </p:spTree>
    <p:extLst>
      <p:ext uri="{BB962C8B-B14F-4D97-AF65-F5344CB8AC3E}">
        <p14:creationId xmlns:p14="http://schemas.microsoft.com/office/powerpoint/2010/main" val="87048444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Verification Phases of the V Model</a:t>
            </a:r>
          </a:p>
        </p:txBody>
      </p:sp>
      <p:sp>
        <p:nvSpPr>
          <p:cNvPr id="3" name="Content Placeholder 2"/>
          <p:cNvSpPr>
            <a:spLocks noGrp="1"/>
          </p:cNvSpPr>
          <p:nvPr>
            <p:ph idx="1"/>
          </p:nvPr>
        </p:nvSpPr>
        <p:spPr/>
        <p:txBody>
          <a:bodyPr>
            <a:normAutofit/>
          </a:bodyPr>
          <a:lstStyle/>
          <a:p>
            <a:r>
              <a:rPr lang="en-US" b="1" dirty="0" smtClean="0"/>
              <a:t>1. </a:t>
            </a:r>
            <a:r>
              <a:rPr lang="en-US" b="1" dirty="0"/>
              <a:t>User Requirements / Requirement Analysis:</a:t>
            </a:r>
          </a:p>
          <a:p>
            <a:r>
              <a:rPr lang="en-US" dirty="0"/>
              <a:t>Remember the example given at the beginning about house construction; before starting the construction work, an individual needs to gather specific details such as financial options, appropriate location, right contractor for constructing a house, construction and building materials, availability of water and electricity, etc</a:t>
            </a:r>
            <a:r>
              <a:rPr lang="en-US" dirty="0" smtClean="0"/>
              <a:t>.</a:t>
            </a:r>
            <a:endParaRPr lang="en-US" dirty="0"/>
          </a:p>
        </p:txBody>
      </p:sp>
    </p:spTree>
    <p:extLst>
      <p:ext uri="{BB962C8B-B14F-4D97-AF65-F5344CB8AC3E}">
        <p14:creationId xmlns:p14="http://schemas.microsoft.com/office/powerpoint/2010/main" val="244979399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Similarly, before starting any software project, the authorities would need to gather certain information, such as having a detailed discussion with customers to know and understand their exact requirements and expectations of the product. </a:t>
            </a:r>
          </a:p>
          <a:p>
            <a:r>
              <a:rPr lang="en-US" dirty="0" smtClean="0"/>
              <a:t>Analyses of the gathered requirements need to be done, then refined and come up with accurate, consistent, and unambiguous requirements, mainly in the form of documents called Requirements Specification or Requirements Definition Documents.</a:t>
            </a:r>
            <a:endParaRPr lang="en-US" dirty="0"/>
          </a:p>
        </p:txBody>
      </p:sp>
    </p:spTree>
    <p:extLst>
      <p:ext uri="{BB962C8B-B14F-4D97-AF65-F5344CB8AC3E}">
        <p14:creationId xmlns:p14="http://schemas.microsoft.com/office/powerpoint/2010/main" val="329186940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This document will capture both the product’s functional and non-functional requirements and the requirement’s priority. The Requirements document is signed-off formally by the stakeholders, which becomes the basis for all further activity. </a:t>
            </a:r>
            <a:endParaRPr lang="en-US" dirty="0" smtClean="0"/>
          </a:p>
          <a:p>
            <a:r>
              <a:rPr lang="en-US" dirty="0" smtClean="0"/>
              <a:t>Based </a:t>
            </a:r>
            <a:r>
              <a:rPr lang="en-US" dirty="0"/>
              <a:t>on this, the user acceptance criteria test cases are developed. The customers/stockholders, Business Analysts, and Project Managers are the key members of the requirement analysis phase</a:t>
            </a:r>
            <a:endParaRPr lang="en-IN" dirty="0"/>
          </a:p>
        </p:txBody>
      </p:sp>
    </p:spTree>
    <p:extLst>
      <p:ext uri="{BB962C8B-B14F-4D97-AF65-F5344CB8AC3E}">
        <p14:creationId xmlns:p14="http://schemas.microsoft.com/office/powerpoint/2010/main" val="33554311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755" y="169682"/>
            <a:ext cx="10807045" cy="6007281"/>
          </a:xfrm>
        </p:spPr>
        <p:txBody>
          <a:bodyPr>
            <a:normAutofit lnSpcReduction="10000"/>
          </a:bodyPr>
          <a:lstStyle/>
          <a:p>
            <a:r>
              <a:rPr lang="en-IN" b="1" dirty="0"/>
              <a:t>2. System Requirements</a:t>
            </a:r>
            <a:r>
              <a:rPr lang="en-IN" b="1" dirty="0" smtClean="0"/>
              <a:t>:</a:t>
            </a:r>
          </a:p>
          <a:p>
            <a:r>
              <a:rPr lang="en-US" dirty="0"/>
              <a:t>Once we have collected the clear and detailed product requirements, the next phase i.e., system requirements begins in earnest. Taking the Requirements Specification inputs in this phase next Functional Requirements Specification or </a:t>
            </a:r>
            <a:r>
              <a:rPr lang="en-US" b="1" dirty="0"/>
              <a:t>System Requirement Specification</a:t>
            </a:r>
            <a:r>
              <a:rPr lang="en-US" dirty="0"/>
              <a:t> begins.</a:t>
            </a:r>
          </a:p>
          <a:p>
            <a:r>
              <a:rPr lang="en-US" dirty="0"/>
              <a:t>Business Analysts and Developer Leads take the user requirements and turn those into different features that the product should have at the end. </a:t>
            </a:r>
            <a:endParaRPr lang="en-US" dirty="0" smtClean="0"/>
          </a:p>
          <a:p>
            <a:r>
              <a:rPr lang="en-US" dirty="0" smtClean="0"/>
              <a:t>During </a:t>
            </a:r>
            <a:r>
              <a:rPr lang="en-US" dirty="0"/>
              <a:t>this system requirement phase, teams will revisit and finalize the complete hardware requirements, resources, and communication setup for the product under development</a:t>
            </a:r>
            <a:r>
              <a:rPr lang="en-US" dirty="0" smtClean="0"/>
              <a:t>.</a:t>
            </a:r>
          </a:p>
          <a:p>
            <a:r>
              <a:rPr lang="en-US" dirty="0" smtClean="0"/>
              <a:t>The system test plan is developed based on the system requirements phase. These requirements are segregated into different features, and features are grouped. Each feature is prioritized in this phase.</a:t>
            </a:r>
            <a:endParaRPr lang="en-IN" dirty="0" smtClean="0"/>
          </a:p>
          <a:p>
            <a:endParaRPr lang="en-US" dirty="0"/>
          </a:p>
          <a:p>
            <a:endParaRPr lang="en-IN" b="1" dirty="0"/>
          </a:p>
        </p:txBody>
      </p:sp>
    </p:spTree>
    <p:extLst>
      <p:ext uri="{BB962C8B-B14F-4D97-AF65-F5344CB8AC3E}">
        <p14:creationId xmlns:p14="http://schemas.microsoft.com/office/powerpoint/2010/main" val="96907052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9876" y="329938"/>
            <a:ext cx="10693924" cy="5847025"/>
          </a:xfrm>
        </p:spPr>
        <p:txBody>
          <a:bodyPr>
            <a:normAutofit/>
          </a:bodyPr>
          <a:lstStyle/>
          <a:p>
            <a:r>
              <a:rPr lang="en-US" b="1" dirty="0" err="1"/>
              <a:t>i</a:t>
            </a:r>
            <a:r>
              <a:rPr lang="en-US" b="1" dirty="0"/>
              <a:t>. Global Design / High-Level Design</a:t>
            </a:r>
            <a:r>
              <a:rPr lang="en-US" b="1" dirty="0" smtClean="0"/>
              <a:t>:</a:t>
            </a:r>
          </a:p>
          <a:p>
            <a:r>
              <a:rPr lang="en-US" dirty="0"/>
              <a:t>The global design phase is also referred to as High-Level Design(HLD) phase. Each feature is again broken down into different modules in this phase. </a:t>
            </a:r>
            <a:endParaRPr lang="en-US" dirty="0" smtClean="0"/>
          </a:p>
          <a:p>
            <a:r>
              <a:rPr lang="en-US" dirty="0" smtClean="0"/>
              <a:t>The </a:t>
            </a:r>
            <a:r>
              <a:rPr lang="en-US" dirty="0"/>
              <a:t>Architects, Developers, Database designers, and other required members take the elements segregated in the system requirements phase as input and develop an overall high-level technical design.</a:t>
            </a:r>
          </a:p>
          <a:p>
            <a:r>
              <a:rPr lang="en-US" dirty="0"/>
              <a:t>This high-level design document has all the required technical details, such as hardware, software, Programming language to be used, Database design, applications touch points, etc., clearly defined. </a:t>
            </a:r>
            <a:endParaRPr lang="en-US" dirty="0" smtClean="0"/>
          </a:p>
          <a:p>
            <a:r>
              <a:rPr lang="en-US" dirty="0" smtClean="0"/>
              <a:t>They </a:t>
            </a:r>
            <a:r>
              <a:rPr lang="en-US" dirty="0"/>
              <a:t>built the HLD so that each module is associated with a specific function. This information allows integration tests to be designed and documented during this stage. </a:t>
            </a:r>
          </a:p>
          <a:p>
            <a:endParaRPr lang="en-IN" dirty="0"/>
          </a:p>
        </p:txBody>
      </p:sp>
    </p:spTree>
    <p:extLst>
      <p:ext uri="{BB962C8B-B14F-4D97-AF65-F5344CB8AC3E}">
        <p14:creationId xmlns:p14="http://schemas.microsoft.com/office/powerpoint/2010/main" val="364314759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b="1" dirty="0"/>
              <a:t>ii. Detailed Design / Low-Level Design</a:t>
            </a:r>
            <a:r>
              <a:rPr lang="en-US" b="1" dirty="0" smtClean="0"/>
              <a:t>:</a:t>
            </a:r>
          </a:p>
          <a:p>
            <a:r>
              <a:rPr lang="en-US" dirty="0"/>
              <a:t>In the next stage, the Technical Specification i.e. HLD, is taken as the input. Individual developers or the team use it to develop a detailed design of their modules and their interface with other modules. </a:t>
            </a:r>
            <a:endParaRPr lang="en-US" dirty="0" smtClean="0"/>
          </a:p>
          <a:p>
            <a:r>
              <a:rPr lang="en-US" dirty="0" smtClean="0"/>
              <a:t>Details </a:t>
            </a:r>
            <a:r>
              <a:rPr lang="en-US" dirty="0"/>
              <a:t>about what type of data objects, how the data is to be collected, how the data can be integrated, business rules to be applied, and data storage are all documented in the detailed design Specification. </a:t>
            </a:r>
            <a:endParaRPr lang="en-US" dirty="0" smtClean="0"/>
          </a:p>
          <a:p>
            <a:r>
              <a:rPr lang="en-US" dirty="0" smtClean="0"/>
              <a:t>This </a:t>
            </a:r>
            <a:r>
              <a:rPr lang="en-US" dirty="0"/>
              <a:t>intricate design specification/document is also referred to as Low-Level Design. In this phase, simultaneously, unit tests can be designed on the internal low-level design of each module.</a:t>
            </a:r>
            <a:endParaRPr lang="en-IN" dirty="0"/>
          </a:p>
        </p:txBody>
      </p:sp>
    </p:spTree>
    <p:extLst>
      <p:ext uri="{BB962C8B-B14F-4D97-AF65-F5344CB8AC3E}">
        <p14:creationId xmlns:p14="http://schemas.microsoft.com/office/powerpoint/2010/main" val="8847098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3. Implementation Phase / Coding Phase</a:t>
            </a:r>
            <a:r>
              <a:rPr lang="en-US" b="1" dirty="0" smtClean="0"/>
              <a:t>:</a:t>
            </a:r>
          </a:p>
          <a:p>
            <a:r>
              <a:rPr lang="en-US" dirty="0"/>
              <a:t>Programmers or Developers take the Low-Level Design Specification and start the implementation process. The coding of each module designed in the detailed design phase is taken up in the coding/implementation phase.</a:t>
            </a:r>
          </a:p>
          <a:p>
            <a:r>
              <a:rPr lang="en-US" dirty="0"/>
              <a:t>The coding is performed based on the coding guidelines and standards of the specific language that is being used. The developed code goes through numerous code reviews-feedbacks, and implementation and is optimized for its best performance before the final build is checked into the source repository.</a:t>
            </a:r>
          </a:p>
          <a:p>
            <a:endParaRPr lang="en-US" b="1" dirty="0"/>
          </a:p>
        </p:txBody>
      </p:sp>
    </p:spTree>
    <p:extLst>
      <p:ext uri="{BB962C8B-B14F-4D97-AF65-F5344CB8AC3E}">
        <p14:creationId xmlns:p14="http://schemas.microsoft.com/office/powerpoint/2010/main" val="35988795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Validation Phases of the V Model</a:t>
            </a:r>
          </a:p>
        </p:txBody>
      </p:sp>
      <p:sp>
        <p:nvSpPr>
          <p:cNvPr id="3" name="Content Placeholder 2"/>
          <p:cNvSpPr>
            <a:spLocks noGrp="1"/>
          </p:cNvSpPr>
          <p:nvPr>
            <p:ph idx="1"/>
          </p:nvPr>
        </p:nvSpPr>
        <p:spPr/>
        <p:txBody>
          <a:bodyPr>
            <a:normAutofit lnSpcReduction="10000"/>
          </a:bodyPr>
          <a:lstStyle/>
          <a:p>
            <a:r>
              <a:rPr lang="en-US" b="1" dirty="0"/>
              <a:t>1. Component Test Execution/Unit Testing</a:t>
            </a:r>
            <a:r>
              <a:rPr lang="en-US" b="1" dirty="0" smtClean="0"/>
              <a:t>:</a:t>
            </a:r>
          </a:p>
          <a:p>
            <a:r>
              <a:rPr lang="en-US" dirty="0"/>
              <a:t>The component test execution phase is also referred to as component testing, unit testing, or module and program testing executed during the detailed design phases. </a:t>
            </a:r>
            <a:endParaRPr lang="en-US" dirty="0" smtClean="0"/>
          </a:p>
          <a:p>
            <a:r>
              <a:rPr lang="en-US" dirty="0" smtClean="0"/>
              <a:t>This </a:t>
            </a:r>
            <a:r>
              <a:rPr lang="en-US" dirty="0"/>
              <a:t>validation testing phase searches for defects in and verifies the functioning of software’s different modules, programs, objects, classes, etc., separately testable.</a:t>
            </a:r>
          </a:p>
          <a:p>
            <a:r>
              <a:rPr lang="en-US" dirty="0"/>
              <a:t>Most often, component testing stubs and drivers are used to replace the missing software and simulate the interface between the software components to achieve the testing in isolation from the rest of the system. </a:t>
            </a:r>
          </a:p>
          <a:p>
            <a:endParaRPr lang="en-US" b="1" dirty="0"/>
          </a:p>
        </p:txBody>
      </p:sp>
    </p:spTree>
    <p:extLst>
      <p:ext uri="{BB962C8B-B14F-4D97-AF65-F5344CB8AC3E}">
        <p14:creationId xmlns:p14="http://schemas.microsoft.com/office/powerpoint/2010/main" val="367714953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Component testing may include different testing characteristics such as resource behavior, memory leaks, code coverage, robustness testing, etc. The detected defects are typically fixed as soon as they are found without formally recording the incidents.</a:t>
            </a:r>
            <a:endParaRPr lang="en-IN" dirty="0"/>
          </a:p>
        </p:txBody>
      </p:sp>
    </p:spTree>
    <p:extLst>
      <p:ext uri="{BB962C8B-B14F-4D97-AF65-F5344CB8AC3E}">
        <p14:creationId xmlns:p14="http://schemas.microsoft.com/office/powerpoint/2010/main" val="192103051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b="1" dirty="0"/>
              <a:t>2. Integration Test Execution/Integration Testing</a:t>
            </a:r>
            <a:r>
              <a:rPr lang="en-US" b="1" dirty="0" smtClean="0"/>
              <a:t>:</a:t>
            </a:r>
          </a:p>
          <a:p>
            <a:r>
              <a:rPr lang="en-US" dirty="0"/>
              <a:t>Primarily integration testing is carried out based on global or high-level design. The development team comes up with the technical specification and a corresponding integration for a test plan. </a:t>
            </a:r>
            <a:endParaRPr lang="en-US" dirty="0" smtClean="0"/>
          </a:p>
          <a:p>
            <a:r>
              <a:rPr lang="en-US" dirty="0" smtClean="0"/>
              <a:t>The </a:t>
            </a:r>
            <a:r>
              <a:rPr lang="en-US" dirty="0"/>
              <a:t>details are noted of how the modules or programs will be integrated, data that will be passed through the interfaces, and additional </a:t>
            </a:r>
            <a:r>
              <a:rPr lang="en-US" b="1" dirty="0">
                <a:hlinkClick r:id="rId2"/>
              </a:rPr>
              <a:t>integration testing</a:t>
            </a:r>
            <a:r>
              <a:rPr lang="en-US" dirty="0"/>
              <a:t> approaches such as Big Bang, Top-Down, Bottom-up, or functional incremental, etc</a:t>
            </a:r>
            <a:r>
              <a:rPr lang="en-US" dirty="0" smtClean="0"/>
              <a:t>.</a:t>
            </a:r>
            <a:endParaRPr lang="en-US" dirty="0"/>
          </a:p>
        </p:txBody>
      </p:sp>
    </p:spTree>
    <p:extLst>
      <p:ext uri="{BB962C8B-B14F-4D97-AF65-F5344CB8AC3E}">
        <p14:creationId xmlns:p14="http://schemas.microsoft.com/office/powerpoint/2010/main" val="23238918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Integration testing is performed to expose the defects in the interfaces between components, interactions of different parts or systems such as an Operating System and File system, etc.</a:t>
            </a:r>
          </a:p>
          <a:p>
            <a:r>
              <a:rPr lang="en-US" dirty="0" smtClean="0"/>
              <a:t> Here the main focus is on how other modules or components’ interaction works, not the functionality of the individual component.</a:t>
            </a:r>
            <a:endParaRPr lang="en-US" dirty="0"/>
          </a:p>
        </p:txBody>
      </p:sp>
    </p:spTree>
    <p:extLst>
      <p:ext uri="{BB962C8B-B14F-4D97-AF65-F5344CB8AC3E}">
        <p14:creationId xmlns:p14="http://schemas.microsoft.com/office/powerpoint/2010/main" val="372048750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b="1" dirty="0"/>
              <a:t>3. System Test Execution/ System Testing</a:t>
            </a:r>
            <a:r>
              <a:rPr lang="en-US" b="1" dirty="0" smtClean="0"/>
              <a:t>:</a:t>
            </a:r>
          </a:p>
          <a:p>
            <a:r>
              <a:rPr lang="en-US" b="1" dirty="0" smtClean="0"/>
              <a:t>System testing</a:t>
            </a:r>
            <a:r>
              <a:rPr lang="en-US" dirty="0" smtClean="0"/>
              <a:t> tests an integrated system/whole system or product to verify that it meets specified requirements. The main goal is to validate that the delivery system meets the design specifications. </a:t>
            </a:r>
          </a:p>
          <a:p>
            <a:r>
              <a:rPr lang="en-US" dirty="0" smtClean="0"/>
              <a:t>The testing team performs complete or thorough testing in this phase, including system, functional, and non-functional test cases. Its purpose is to find as many defects as possible and report them.</a:t>
            </a:r>
          </a:p>
          <a:p>
            <a:r>
              <a:rPr lang="en-US" dirty="0" smtClean="0"/>
              <a:t>System </a:t>
            </a:r>
            <a:r>
              <a:rPr lang="en-US" dirty="0"/>
              <a:t>tests are generally executed in different development </a:t>
            </a:r>
            <a:r>
              <a:rPr lang="en-US" b="1" dirty="0" smtClean="0"/>
              <a:t>test environments</a:t>
            </a:r>
            <a:r>
              <a:rPr lang="en-US" dirty="0" smtClean="0"/>
              <a:t>. </a:t>
            </a:r>
            <a:r>
              <a:rPr lang="en-US" dirty="0"/>
              <a:t>However, the test environments should correspond to the production environment as much as possible to minimize the risk of environment-specific bugs.</a:t>
            </a:r>
          </a:p>
          <a:p>
            <a:endParaRPr lang="en-US" b="1" dirty="0"/>
          </a:p>
        </p:txBody>
      </p:sp>
    </p:spTree>
    <p:extLst>
      <p:ext uri="{BB962C8B-B14F-4D97-AF65-F5344CB8AC3E}">
        <p14:creationId xmlns:p14="http://schemas.microsoft.com/office/powerpoint/2010/main" val="145407226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dirty="0"/>
              <a:t>4. Acceptance Test Execution/User Acceptance Testing</a:t>
            </a:r>
            <a:r>
              <a:rPr lang="en-US" b="1" dirty="0" smtClean="0"/>
              <a:t>:</a:t>
            </a:r>
            <a:endParaRPr lang="en-US" dirty="0" smtClean="0"/>
          </a:p>
          <a:p>
            <a:r>
              <a:rPr lang="en-US" dirty="0" smtClean="0"/>
              <a:t>Acceptance </a:t>
            </a:r>
            <a:r>
              <a:rPr lang="en-US" dirty="0"/>
              <a:t>test execution is associated with the requirements analysis phase. Testers review the Requirement specification and check whether the requirement has enough details to be tested, there is no ambiguity if non-functional requirements are mentioned as well, whether the requirements have been prioritized, and if product risks have been captured. </a:t>
            </a:r>
            <a:endParaRPr lang="en-US" dirty="0" smtClean="0"/>
          </a:p>
          <a:p>
            <a:r>
              <a:rPr lang="en-US" dirty="0" smtClean="0"/>
              <a:t>This </a:t>
            </a:r>
            <a:r>
              <a:rPr lang="en-US" dirty="0"/>
              <a:t>Test plan is designed focused on conducting tests concerning the user needs, requirements, and business processes. </a:t>
            </a:r>
          </a:p>
          <a:p>
            <a:r>
              <a:rPr lang="en-US" dirty="0"/>
              <a:t>This determines whether or not the software product/system satisfies the acceptance criteria and enables the users, customers, or other authorized entities to determine whether or not to accept the system.</a:t>
            </a:r>
          </a:p>
        </p:txBody>
      </p:sp>
    </p:spTree>
    <p:extLst>
      <p:ext uri="{BB962C8B-B14F-4D97-AF65-F5344CB8AC3E}">
        <p14:creationId xmlns:p14="http://schemas.microsoft.com/office/powerpoint/2010/main" val="282012403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308"/>
            <a:ext cx="10515600" cy="502141"/>
          </a:xfrm>
        </p:spPr>
        <p:txBody>
          <a:bodyPr>
            <a:normAutofit fontScale="90000"/>
          </a:bodyPr>
          <a:lstStyle/>
          <a:p>
            <a:r>
              <a:rPr lang="en-IN" b="1" dirty="0"/>
              <a:t>Principles of V Model</a:t>
            </a:r>
          </a:p>
        </p:txBody>
      </p:sp>
      <p:sp>
        <p:nvSpPr>
          <p:cNvPr id="3" name="Content Placeholder 2"/>
          <p:cNvSpPr>
            <a:spLocks noGrp="1"/>
          </p:cNvSpPr>
          <p:nvPr>
            <p:ph idx="1"/>
          </p:nvPr>
        </p:nvSpPr>
        <p:spPr>
          <a:xfrm>
            <a:off x="838200" y="735291"/>
            <a:ext cx="10515600" cy="5441672"/>
          </a:xfrm>
        </p:spPr>
        <p:txBody>
          <a:bodyPr>
            <a:normAutofit fontScale="92500" lnSpcReduction="20000"/>
          </a:bodyPr>
          <a:lstStyle/>
          <a:p>
            <a:r>
              <a:rPr lang="en-US" dirty="0"/>
              <a:t>The principles of the V model are based on Verification and Validation, which you can find in the above sections. Here, we discuss the clear principles of the V model in Software testing:</a:t>
            </a:r>
          </a:p>
          <a:p>
            <a:r>
              <a:rPr lang="en-US" b="1" dirty="0"/>
              <a:t>From Large to Small:</a:t>
            </a:r>
            <a:r>
              <a:rPr lang="en-US" dirty="0"/>
              <a:t> The first principle states that the testing needs to be done in a sequential process. It must start with identifying the requirements, creating a high-level, concise design, and detailing the design phases of the project.</a:t>
            </a:r>
          </a:p>
          <a:p>
            <a:r>
              <a:rPr lang="en-US" b="1" dirty="0"/>
              <a:t>Data and Process Integrity:</a:t>
            </a:r>
            <a:r>
              <a:rPr lang="en-US" dirty="0"/>
              <a:t> This principle places emphasis on working with data and processes together to implement a successful project design.</a:t>
            </a:r>
          </a:p>
          <a:p>
            <a:r>
              <a:rPr lang="en-US" b="1" dirty="0"/>
              <a:t>Scalability:</a:t>
            </a:r>
            <a:r>
              <a:rPr lang="en-US" dirty="0"/>
              <a:t> The V model undertakes the ability to accommodate any IT project despite the size, complexity, or duration.</a:t>
            </a:r>
          </a:p>
          <a:p>
            <a:r>
              <a:rPr lang="en-US" b="1" dirty="0"/>
              <a:t>Cross Reference:</a:t>
            </a:r>
            <a:r>
              <a:rPr lang="en-US" dirty="0"/>
              <a:t> This principle establishes a direct correlation between requirements and corresponding testing activity.</a:t>
            </a:r>
          </a:p>
          <a:p>
            <a:r>
              <a:rPr lang="en-US" b="1" dirty="0"/>
              <a:t>Clear Documentation:</a:t>
            </a:r>
            <a:r>
              <a:rPr lang="en-US" dirty="0"/>
              <a:t> Like in every other project, this principle shows how documentation is a requirement that needs to be done by both the developers and the support team.</a:t>
            </a:r>
          </a:p>
        </p:txBody>
      </p:sp>
    </p:spTree>
    <p:extLst>
      <p:ext uri="{BB962C8B-B14F-4D97-AF65-F5344CB8AC3E}">
        <p14:creationId xmlns:p14="http://schemas.microsoft.com/office/powerpoint/2010/main" val="158268026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Critical Roles </a:t>
            </a:r>
            <a:br>
              <a:rPr lang="en-IN" b="1" dirty="0" smtClean="0"/>
            </a:br>
            <a:r>
              <a:rPr lang="en-IN" b="1" dirty="0" smtClean="0"/>
              <a:t>and Responsibilities.</a:t>
            </a:r>
            <a:endParaRPr lang="en-IN" b="1" dirty="0"/>
          </a:p>
        </p:txBody>
      </p:sp>
      <p:sp>
        <p:nvSpPr>
          <p:cNvPr id="3" name="Content Placeholder 2"/>
          <p:cNvSpPr>
            <a:spLocks noGrp="1"/>
          </p:cNvSpPr>
          <p:nvPr>
            <p:ph idx="1"/>
          </p:nvPr>
        </p:nvSpPr>
        <p:spPr/>
        <p:txBody>
          <a:bodyPr/>
          <a:lstStyle/>
          <a:p>
            <a:r>
              <a:rPr lang="en-US" b="1" dirty="0" smtClean="0"/>
              <a:t>1. Project Manager:</a:t>
            </a:r>
            <a:endParaRPr lang="en-US" dirty="0" smtClean="0"/>
          </a:p>
          <a:p>
            <a:r>
              <a:rPr lang="en-US" b="1" dirty="0" smtClean="0"/>
              <a:t>Responsibilities:</a:t>
            </a:r>
            <a:r>
              <a:rPr lang="en-US" dirty="0" smtClean="0"/>
              <a:t> </a:t>
            </a:r>
          </a:p>
          <a:p>
            <a:pPr lvl="1"/>
            <a:r>
              <a:rPr lang="en-US" dirty="0" smtClean="0"/>
              <a:t>Overall responsibility for V&amp;V planning and execution.</a:t>
            </a:r>
          </a:p>
          <a:p>
            <a:pPr lvl="1"/>
            <a:r>
              <a:rPr lang="en-US" dirty="0" smtClean="0"/>
              <a:t>Allocating resources (budget, personnel, tools) for V&amp;V activities.</a:t>
            </a:r>
          </a:p>
          <a:p>
            <a:pPr lvl="1"/>
            <a:r>
              <a:rPr lang="en-US" dirty="0" smtClean="0"/>
              <a:t>Monitoring V&amp;V progress and ensuring it stays on track.</a:t>
            </a:r>
          </a:p>
          <a:p>
            <a:pPr lvl="1"/>
            <a:r>
              <a:rPr lang="en-US" dirty="0" smtClean="0"/>
              <a:t>Communicating V&amp;V results to stakeholders.</a:t>
            </a:r>
          </a:p>
          <a:p>
            <a:pPr lvl="1"/>
            <a:r>
              <a:rPr lang="en-US" dirty="0" smtClean="0"/>
              <a:t>Making decisions based on V&amp;V findings (e.g., whether to release the software).</a:t>
            </a:r>
            <a:endParaRPr lang="en-US" dirty="0"/>
          </a:p>
        </p:txBody>
      </p:sp>
    </p:spTree>
    <p:extLst>
      <p:ext uri="{BB962C8B-B14F-4D97-AF65-F5344CB8AC3E}">
        <p14:creationId xmlns:p14="http://schemas.microsoft.com/office/powerpoint/2010/main" val="123088450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670" y="141402"/>
            <a:ext cx="11118130" cy="6035561"/>
          </a:xfrm>
        </p:spPr>
        <p:txBody>
          <a:bodyPr/>
          <a:lstStyle/>
          <a:p>
            <a:r>
              <a:rPr lang="en-US" b="1" dirty="0" smtClean="0"/>
              <a:t>2. V&amp;V Lead/Manager:</a:t>
            </a:r>
            <a:endParaRPr lang="en-US" dirty="0" smtClean="0"/>
          </a:p>
          <a:p>
            <a:r>
              <a:rPr lang="en-US" b="1" dirty="0" smtClean="0"/>
              <a:t>Responsibilities:</a:t>
            </a:r>
            <a:r>
              <a:rPr lang="en-US" dirty="0" smtClean="0"/>
              <a:t> </a:t>
            </a:r>
          </a:p>
          <a:p>
            <a:pPr lvl="1"/>
            <a:r>
              <a:rPr lang="en-US" dirty="0" smtClean="0"/>
              <a:t>Developing and maintaining the V&amp;V plan.</a:t>
            </a:r>
          </a:p>
          <a:p>
            <a:pPr lvl="1"/>
            <a:r>
              <a:rPr lang="en-US" dirty="0" smtClean="0"/>
              <a:t>Defining V&amp;V strategies and methodologies.</a:t>
            </a:r>
          </a:p>
          <a:p>
            <a:pPr lvl="1"/>
            <a:r>
              <a:rPr lang="en-US" dirty="0" smtClean="0"/>
              <a:t>Leading and coordinating V&amp;V activities.</a:t>
            </a:r>
          </a:p>
          <a:p>
            <a:pPr lvl="1"/>
            <a:r>
              <a:rPr lang="en-US" dirty="0" smtClean="0"/>
              <a:t>Managing the V&amp;V team.</a:t>
            </a:r>
          </a:p>
          <a:p>
            <a:pPr lvl="1"/>
            <a:r>
              <a:rPr lang="en-US" dirty="0" smtClean="0"/>
              <a:t>Reporting V&amp;V status to the project manager.</a:t>
            </a:r>
          </a:p>
          <a:p>
            <a:r>
              <a:rPr lang="en-US" b="1" dirty="0" smtClean="0"/>
              <a:t>3. Requirements Analyst:</a:t>
            </a:r>
            <a:endParaRPr lang="en-US" dirty="0" smtClean="0"/>
          </a:p>
          <a:p>
            <a:r>
              <a:rPr lang="en-US" b="1" dirty="0" smtClean="0"/>
              <a:t>Responsibilities:</a:t>
            </a:r>
            <a:r>
              <a:rPr lang="en-US" dirty="0" smtClean="0"/>
              <a:t> </a:t>
            </a:r>
          </a:p>
          <a:p>
            <a:pPr lvl="1"/>
            <a:r>
              <a:rPr lang="en-US" dirty="0" smtClean="0"/>
              <a:t>Eliciting, analyzing, and documenting requirements.</a:t>
            </a:r>
          </a:p>
          <a:p>
            <a:pPr lvl="1"/>
            <a:r>
              <a:rPr lang="en-US" dirty="0" smtClean="0"/>
              <a:t>Ensuring requirements are clear, complete, and testable.</a:t>
            </a:r>
          </a:p>
          <a:p>
            <a:pPr lvl="1"/>
            <a:r>
              <a:rPr lang="en-US" dirty="0" smtClean="0"/>
              <a:t>Maintaining traceability between requirements and other artifacts.</a:t>
            </a:r>
          </a:p>
          <a:p>
            <a:pPr lvl="1"/>
            <a:r>
              <a:rPr lang="en-US" dirty="0" smtClean="0"/>
              <a:t>Participating in requirements reviews.</a:t>
            </a:r>
          </a:p>
          <a:p>
            <a:pPr marL="457200" lvl="1" indent="0">
              <a:buNone/>
            </a:pPr>
            <a:endParaRPr lang="en-US" dirty="0"/>
          </a:p>
        </p:txBody>
      </p:sp>
    </p:spTree>
    <p:extLst>
      <p:ext uri="{BB962C8B-B14F-4D97-AF65-F5344CB8AC3E}">
        <p14:creationId xmlns:p14="http://schemas.microsoft.com/office/powerpoint/2010/main" val="34221832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4779" y="188536"/>
            <a:ext cx="10939021" cy="5988427"/>
          </a:xfrm>
        </p:spPr>
        <p:txBody>
          <a:bodyPr>
            <a:normAutofit/>
          </a:bodyPr>
          <a:lstStyle/>
          <a:p>
            <a:r>
              <a:rPr lang="en-US" b="1" dirty="0" smtClean="0"/>
              <a:t>4. Designers/Architects:</a:t>
            </a:r>
            <a:endParaRPr lang="en-US" dirty="0" smtClean="0"/>
          </a:p>
          <a:p>
            <a:r>
              <a:rPr lang="en-US" b="1" dirty="0" smtClean="0"/>
              <a:t>Responsibilities:</a:t>
            </a:r>
            <a:r>
              <a:rPr lang="en-US" dirty="0" smtClean="0"/>
              <a:t> </a:t>
            </a:r>
          </a:p>
          <a:p>
            <a:pPr lvl="1"/>
            <a:r>
              <a:rPr lang="en-US" dirty="0" smtClean="0"/>
              <a:t>Creating software designs that meet requirements.</a:t>
            </a:r>
          </a:p>
          <a:p>
            <a:pPr lvl="1"/>
            <a:r>
              <a:rPr lang="en-US" dirty="0" smtClean="0"/>
              <a:t>Ensuring designs are testable and verifiable.</a:t>
            </a:r>
          </a:p>
          <a:p>
            <a:pPr lvl="1"/>
            <a:r>
              <a:rPr lang="en-US" dirty="0" smtClean="0"/>
              <a:t>Participating in design inspections.</a:t>
            </a:r>
          </a:p>
          <a:p>
            <a:r>
              <a:rPr lang="en-US" b="1" dirty="0" smtClean="0"/>
              <a:t>5. Developers:</a:t>
            </a:r>
            <a:endParaRPr lang="en-US" dirty="0" smtClean="0"/>
          </a:p>
          <a:p>
            <a:r>
              <a:rPr lang="en-US" b="1" dirty="0" smtClean="0"/>
              <a:t>Responsibilities:</a:t>
            </a:r>
            <a:r>
              <a:rPr lang="en-US" dirty="0" smtClean="0"/>
              <a:t> </a:t>
            </a:r>
          </a:p>
          <a:p>
            <a:pPr lvl="1"/>
            <a:r>
              <a:rPr lang="en-US" dirty="0" smtClean="0"/>
              <a:t>Writing high-quality code that adheres to standards.</a:t>
            </a:r>
          </a:p>
          <a:p>
            <a:pPr lvl="1"/>
            <a:r>
              <a:rPr lang="en-US" dirty="0" smtClean="0"/>
              <a:t>Performing unit testing and integration testing.</a:t>
            </a:r>
          </a:p>
          <a:p>
            <a:pPr lvl="1"/>
            <a:r>
              <a:rPr lang="en-US" dirty="0" smtClean="0"/>
              <a:t>Fixing defects identified during V&amp;V activities.</a:t>
            </a:r>
          </a:p>
          <a:p>
            <a:pPr lvl="1"/>
            <a:r>
              <a:rPr lang="en-US" dirty="0" smtClean="0"/>
              <a:t>Participating in code reviews.</a:t>
            </a:r>
          </a:p>
          <a:p>
            <a:pPr marL="457200" lvl="1" indent="0">
              <a:buNone/>
            </a:pPr>
            <a:endParaRPr lang="en-US" dirty="0"/>
          </a:p>
        </p:txBody>
      </p:sp>
    </p:spTree>
    <p:extLst>
      <p:ext uri="{BB962C8B-B14F-4D97-AF65-F5344CB8AC3E}">
        <p14:creationId xmlns:p14="http://schemas.microsoft.com/office/powerpoint/2010/main" val="4620117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511" y="179109"/>
            <a:ext cx="11033289" cy="5997854"/>
          </a:xfrm>
        </p:spPr>
        <p:txBody>
          <a:bodyPr>
            <a:normAutofit/>
          </a:bodyPr>
          <a:lstStyle/>
          <a:p>
            <a:r>
              <a:rPr lang="en-US" b="1" dirty="0" smtClean="0"/>
              <a:t>6. Testers:</a:t>
            </a:r>
            <a:endParaRPr lang="en-US" dirty="0" smtClean="0"/>
          </a:p>
          <a:p>
            <a:r>
              <a:rPr lang="en-US" b="1" dirty="0" smtClean="0"/>
              <a:t>Responsibilities:</a:t>
            </a:r>
            <a:r>
              <a:rPr lang="en-US" dirty="0" smtClean="0"/>
              <a:t> </a:t>
            </a:r>
          </a:p>
          <a:p>
            <a:pPr lvl="1"/>
            <a:r>
              <a:rPr lang="en-US" dirty="0" smtClean="0"/>
              <a:t>Developing test plans and test cases.</a:t>
            </a:r>
          </a:p>
          <a:p>
            <a:pPr lvl="1"/>
            <a:r>
              <a:rPr lang="en-US" dirty="0" smtClean="0"/>
              <a:t>Executing tests and documenting results.</a:t>
            </a:r>
          </a:p>
          <a:p>
            <a:pPr lvl="1"/>
            <a:r>
              <a:rPr lang="en-US" dirty="0" smtClean="0"/>
              <a:t>Identifying and reporting defects.</a:t>
            </a:r>
          </a:p>
          <a:p>
            <a:pPr lvl="1"/>
            <a:r>
              <a:rPr lang="en-US" dirty="0" smtClean="0"/>
              <a:t>Performing various types of testing (e.g., functional, performance, security).</a:t>
            </a:r>
          </a:p>
          <a:p>
            <a:r>
              <a:rPr lang="en-US" b="1" dirty="0" smtClean="0"/>
              <a:t>7. Quality Assurance (QA) Engineers:</a:t>
            </a:r>
            <a:endParaRPr lang="en-US" dirty="0" smtClean="0"/>
          </a:p>
          <a:p>
            <a:r>
              <a:rPr lang="en-US" b="1" dirty="0" smtClean="0"/>
              <a:t>Responsibilities:</a:t>
            </a:r>
            <a:r>
              <a:rPr lang="en-US" dirty="0" smtClean="0"/>
              <a:t> </a:t>
            </a:r>
          </a:p>
          <a:p>
            <a:pPr lvl="1"/>
            <a:r>
              <a:rPr lang="en-US" dirty="0" smtClean="0"/>
              <a:t>Ensuring V&amp;V processes are followed.</a:t>
            </a:r>
          </a:p>
          <a:p>
            <a:pPr lvl="1"/>
            <a:r>
              <a:rPr lang="en-US" dirty="0" smtClean="0"/>
              <a:t>Monitoring quality metrics.</a:t>
            </a:r>
          </a:p>
          <a:p>
            <a:pPr lvl="1"/>
            <a:r>
              <a:rPr lang="en-US" dirty="0" smtClean="0"/>
              <a:t>Identifying areas for improvement in V&amp;V processes.</a:t>
            </a:r>
          </a:p>
          <a:p>
            <a:pPr lvl="1"/>
            <a:r>
              <a:rPr lang="en-US" dirty="0" smtClean="0"/>
              <a:t>Participating in audits and reviews.</a:t>
            </a:r>
          </a:p>
          <a:p>
            <a:pPr marL="457200" lvl="1" indent="0">
              <a:buNone/>
            </a:pPr>
            <a:endParaRPr lang="en-US" dirty="0"/>
          </a:p>
        </p:txBody>
      </p:sp>
    </p:spTree>
    <p:extLst>
      <p:ext uri="{BB962C8B-B14F-4D97-AF65-F5344CB8AC3E}">
        <p14:creationId xmlns:p14="http://schemas.microsoft.com/office/powerpoint/2010/main" val="1083577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8. End-Users/Customers:</a:t>
            </a:r>
            <a:endParaRPr lang="en-US" dirty="0" smtClean="0"/>
          </a:p>
          <a:p>
            <a:r>
              <a:rPr lang="en-US" b="1" dirty="0" smtClean="0"/>
              <a:t>Responsibilities:</a:t>
            </a:r>
            <a:r>
              <a:rPr lang="en-US" dirty="0" smtClean="0"/>
              <a:t> </a:t>
            </a:r>
          </a:p>
          <a:p>
            <a:pPr lvl="1"/>
            <a:r>
              <a:rPr lang="en-US" dirty="0" smtClean="0"/>
              <a:t>Participating in user acceptance testing (UAT).</a:t>
            </a:r>
          </a:p>
          <a:p>
            <a:pPr lvl="1"/>
            <a:r>
              <a:rPr lang="en-US" dirty="0" smtClean="0"/>
              <a:t>Providing feedback on the software's usability and functionality.</a:t>
            </a:r>
          </a:p>
          <a:p>
            <a:pPr lvl="1"/>
            <a:r>
              <a:rPr lang="en-US" dirty="0" smtClean="0"/>
              <a:t>Defining acceptance criteria.</a:t>
            </a:r>
            <a:endParaRPr lang="en-US" dirty="0"/>
          </a:p>
        </p:txBody>
      </p:sp>
    </p:spTree>
    <p:extLst>
      <p:ext uri="{BB962C8B-B14F-4D97-AF65-F5344CB8AC3E}">
        <p14:creationId xmlns:p14="http://schemas.microsoft.com/office/powerpoint/2010/main" val="25715000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Thank You</a:t>
            </a:r>
            <a:endParaRPr lang="en-IN" b="1" dirty="0"/>
          </a:p>
        </p:txBody>
      </p:sp>
    </p:spTree>
    <p:extLst>
      <p:ext uri="{BB962C8B-B14F-4D97-AF65-F5344CB8AC3E}">
        <p14:creationId xmlns:p14="http://schemas.microsoft.com/office/powerpoint/2010/main" val="932018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2889</TotalTime>
  <Words>3664</Words>
  <Application>Microsoft Office PowerPoint</Application>
  <PresentationFormat>Widescreen</PresentationFormat>
  <Paragraphs>247</Paragraphs>
  <Slides>69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Calibri</vt:lpstr>
      <vt:lpstr>Calibri Light</vt:lpstr>
      <vt:lpstr>Office Theme</vt:lpstr>
      <vt:lpstr>STQA IV</vt:lpstr>
      <vt:lpstr>Software Verification and Validation (V&amp;V)</vt:lpstr>
      <vt:lpstr>1. Software Verification</vt:lpstr>
      <vt:lpstr>2. Software Validation</vt:lpstr>
      <vt:lpstr>PowerPoint Presentation</vt:lpstr>
      <vt:lpstr>Verification Workbench</vt:lpstr>
      <vt:lpstr>Key Components of the Verification Workbench</vt:lpstr>
      <vt:lpstr>Process of Using the Verification Workbench</vt:lpstr>
      <vt:lpstr>Methods of Verification in Software Testing</vt:lpstr>
      <vt:lpstr>PowerPoint Presentation</vt:lpstr>
      <vt:lpstr>PowerPoint Presentation</vt:lpstr>
      <vt:lpstr>Types of Reviews Based on Stage/Phase</vt:lpstr>
      <vt:lpstr>PowerPoint Presentation</vt:lpstr>
      <vt:lpstr>Entities Involved in Software Verification</vt:lpstr>
      <vt:lpstr>Reviews in the Software Testing Lifecycle</vt:lpstr>
      <vt:lpstr>Types of Reviews in the Testing Lifecycle</vt:lpstr>
      <vt:lpstr>PowerPoint Presentation</vt:lpstr>
      <vt:lpstr>Coverage in Verification</vt:lpstr>
      <vt:lpstr>PowerPoint Presentation</vt:lpstr>
      <vt:lpstr>Concerns of Verification in Software Testing</vt:lpstr>
      <vt:lpstr>Software Validation</vt:lpstr>
      <vt:lpstr>PowerPoint Presentation</vt:lpstr>
      <vt:lpstr>PowerPoint Presentation</vt:lpstr>
      <vt:lpstr>Validation Workbench</vt:lpstr>
      <vt:lpstr>Key Examples of Validation Workbenches:</vt:lpstr>
      <vt:lpstr>Levels of Validation</vt:lpstr>
      <vt:lpstr>PowerPoint Presentation</vt:lpstr>
      <vt:lpstr>Coverage in validation</vt:lpstr>
      <vt:lpstr>Types of Test Coverage:</vt:lpstr>
      <vt:lpstr>PowerPoint Presentation</vt:lpstr>
      <vt:lpstr>Management  of Verification and Validation</vt:lpstr>
      <vt:lpstr>PowerPoint Presentation</vt:lpstr>
      <vt:lpstr>PowerPoint Presentation</vt:lpstr>
      <vt:lpstr>PowerPoint Presentation</vt:lpstr>
      <vt:lpstr>PowerPoint Presentation</vt:lpstr>
      <vt:lpstr>Software development verification and validation  activities.</vt:lpstr>
      <vt:lpstr>PowerPoint Presentation</vt:lpstr>
      <vt:lpstr>PowerPoint Presentation</vt:lpstr>
      <vt:lpstr>PowerPoint Presentation</vt:lpstr>
      <vt:lpstr>PowerPoint Presentation</vt:lpstr>
      <vt:lpstr>What is V Model in Software Testing?</vt:lpstr>
      <vt:lpstr>PowerPoint Presentation</vt:lpstr>
      <vt:lpstr>Importance of Software Model:</vt:lpstr>
      <vt:lpstr>PowerPoint Presentation</vt:lpstr>
      <vt:lpstr>Importance of Correct Model</vt:lpstr>
      <vt:lpstr>The same rule applies in Software Engineering too. The necessity of correct software testing models in the Software Development Life Cycle (SDLC) is inevitable. Ideally, a Software Development Life Cycle consists of the following essential steps: 1. Planning 2. Analysis 3. Design 4. Implementation 5. Testing &amp; Integration 6. Maintenance</vt:lpstr>
      <vt:lpstr>V Model</vt:lpstr>
      <vt:lpstr>PowerPoint Presentation</vt:lpstr>
      <vt:lpstr>PowerPoint Presentation</vt:lpstr>
      <vt:lpstr>Verification Phases of the V Model</vt:lpstr>
      <vt:lpstr>PowerPoint Presentation</vt:lpstr>
      <vt:lpstr>PowerPoint Presentation</vt:lpstr>
      <vt:lpstr>PowerPoint Presentation</vt:lpstr>
      <vt:lpstr>PowerPoint Presentation</vt:lpstr>
      <vt:lpstr>PowerPoint Presentation</vt:lpstr>
      <vt:lpstr>PowerPoint Presentation</vt:lpstr>
      <vt:lpstr>Validation Phases of the V Model</vt:lpstr>
      <vt:lpstr>PowerPoint Presentation</vt:lpstr>
      <vt:lpstr>PowerPoint Presentation</vt:lpstr>
      <vt:lpstr>PowerPoint Presentation</vt:lpstr>
      <vt:lpstr>PowerPoint Presentation</vt:lpstr>
      <vt:lpstr>PowerPoint Presentation</vt:lpstr>
      <vt:lpstr>Principles of V Model</vt:lpstr>
      <vt:lpstr>Critical Roles  and Responsibilities.</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STQA IV</dc:title>
  <dc:creator>Saugat</dc:creator>
  <cp:lastModifiedBy>Saugat</cp:lastModifiedBy>
  <cp:revision>15</cp:revision>
  <dcterms:created xsi:type="dcterms:W3CDTF">2025-02-04T04:15:07Z</dcterms:created>
  <dcterms:modified xsi:type="dcterms:W3CDTF">2025-02-06T04:24:17Z</dcterms:modified>
</cp:coreProperties>
</file>